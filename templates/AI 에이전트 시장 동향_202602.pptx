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4"/>
  </p:sldMasterIdLst>
  <p:notesMasterIdLst>
    <p:notesMasterId r:id="rId14"/>
  </p:notesMasterIdLst>
  <p:handoutMasterIdLst>
    <p:handoutMasterId r:id="rId15"/>
  </p:handoutMasterIdLst>
  <p:sldIdLst>
    <p:sldId id="555" r:id="rId5"/>
    <p:sldId id="2134807260" r:id="rId6"/>
    <p:sldId id="2134807261" r:id="rId7"/>
    <p:sldId id="2134807271" r:id="rId8"/>
    <p:sldId id="2134807272" r:id="rId9"/>
    <p:sldId id="2134807262" r:id="rId10"/>
    <p:sldId id="2134807264" r:id="rId11"/>
    <p:sldId id="2134807270" r:id="rId12"/>
    <p:sldId id="562" r:id="rId13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">
          <p15:clr>
            <a:srgbClr val="A4A3A4"/>
          </p15:clr>
        </p15:guide>
        <p15:guide id="2" pos="228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6" orient="horz" pos="1003" userDrawn="1">
          <p15:clr>
            <a:srgbClr val="A4A3A4"/>
          </p15:clr>
        </p15:guide>
        <p15:guide id="7" pos="408" userDrawn="1">
          <p15:clr>
            <a:srgbClr val="A4A3A4"/>
          </p15:clr>
        </p15:guide>
        <p15:guide id="9" orient="horz" pos="368" userDrawn="1">
          <p15:clr>
            <a:srgbClr val="A4A3A4"/>
          </p15:clr>
        </p15:guide>
        <p15:guide id="10" pos="113" userDrawn="1">
          <p15:clr>
            <a:srgbClr val="A4A3A4"/>
          </p15:clr>
        </p15:guide>
        <p15:guide id="11" pos="272" userDrawn="1">
          <p15:clr>
            <a:srgbClr val="A4A3A4"/>
          </p15:clr>
        </p15:guide>
        <p15:guide id="12" pos="5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651"/>
    <a:srgbClr val="F16455"/>
    <a:srgbClr val="FDE9E7"/>
    <a:srgbClr val="F9C8C3"/>
    <a:srgbClr val="000000"/>
    <a:srgbClr val="44546A"/>
    <a:srgbClr val="9CC813"/>
    <a:srgbClr val="0186D1"/>
    <a:srgbClr val="FFFFFF"/>
    <a:srgbClr val="6C8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24051-8CD3-481A-AAFA-0EA55897561B}" v="6" dt="2026-03-08T23:46:26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272" y="306"/>
      </p:cViewPr>
      <p:guideLst>
        <p:guide orient="horz" pos="210"/>
        <p:guide pos="228"/>
        <p:guide orient="horz" pos="4110"/>
        <p:guide orient="horz" pos="1003"/>
        <p:guide pos="408"/>
        <p:guide orient="horz" pos="368"/>
        <p:guide pos="113"/>
        <p:guide pos="272"/>
        <p:guide pos="5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 1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56-4D7E-AC6A-E5B080538829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956-4D7E-AC6A-E5B080538829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56-4D7E-AC6A-E5B0805388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 1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69-4794-9F75-EC514321FE65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69-4794-9F75-EC514321FE65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69-4794-9F75-EC514321FE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 1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56-4661-8580-161EECDD2205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56-4661-8580-161EECDD2205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56-4661-8580-161EECDD22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7" y="0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85B8C-6FF8-4470-B11D-6011F50B766D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8583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7" y="9428583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2DBEE-7F29-4413-88E2-1082A58ECF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17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0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4B216-6DA2-4AB3-8FBA-2CC7BC4BF993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428583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3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93C33-5E2D-4602-9FF9-A180A2CDEB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26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72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0FC7-1A32-DF39-D134-44B9BA64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3CC5AE-7648-A013-6FFD-C2211C97E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26434E-F8F4-54E3-32C8-72B95B1F0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5D5F5D-AF65-5DEE-05AC-2A127EE59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241387-CA95-48F8-ACD6-4AE6493735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623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2A7E-EB9E-4463-F8E5-0831173C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974038-E497-F9DA-C4D5-FB377F93E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806A49-B772-ADB4-9F6C-080D29C0F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D49B0-4106-D477-EDAF-04B6DA760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1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4DF1-7D1F-9F3D-3DCC-E2347A8D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549844-A78B-0DDD-3A5B-DFF56E5A5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44E071-E6E5-BB47-74A7-27C51CEF5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81A2E-ED03-A01E-2754-7379C0499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9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4B96-D23F-90D7-626C-693BA3D8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0EDB36-DC7D-4438-6A6B-789585D47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4BA0B7-0B32-F786-1D7D-2AE9EFA55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69C6F-E66B-C381-2D91-31D20A784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62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90688-8B86-470B-0363-B08BF720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ADF7DC-ECBB-2928-52EE-DC3120A2D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6C00C0-0D6D-F5C7-F2B5-5E70FE762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39B914-B7B3-7764-9209-D5136F60D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04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0699-3EA0-6F68-E887-F050DA85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B9C5E3-AA4F-D1C5-15F2-E50F159F1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06B28E-A575-1558-9B74-0A5035BE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2A097-0B6F-E4CE-34DB-0398E7679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03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B4B8-072D-5A46-667E-ACF304C2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761EE0-5F19-A1F2-E73B-63296ED28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33E6A1-BA7C-63F9-EE21-2482BD61F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062C55-19F0-3D8E-D0C2-D407D3641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93C33-5E2D-4602-9FF9-A180A2CDEB6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699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CB38BE8-D8F1-4490-BAE9-ECEBE113B808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CB65449-C982-4E8D-BA9A-3994C4B802CB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138349FF-36A7-4803-95EC-2D4D7F6829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461DF585-1618-4643-9A9D-EC4B0C3A9B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A8B252D-EC1A-47CB-ADD0-36B763CC22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  <p:pic>
        <p:nvPicPr>
          <p:cNvPr id="12" name="Picture 3">
            <a:extLst>
              <a:ext uri="{FF2B5EF4-FFF2-40B4-BE49-F238E27FC236}">
                <a16:creationId xmlns:a16="http://schemas.microsoft.com/office/drawing/2014/main" id="{609AC95F-0C10-4CB4-895E-0B60B7D5BD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9" y="64836"/>
            <a:ext cx="720080" cy="281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C5C27C9-4FD3-415A-AA76-99E888D2A2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8550" y="2423858"/>
            <a:ext cx="6946900" cy="847725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buNone/>
              <a:defRPr sz="4000" b="1"/>
            </a:lvl1pPr>
            <a:lvl2pPr algn="ctr">
              <a:buNone/>
              <a:defRPr sz="4000" b="1"/>
            </a:lvl2pPr>
            <a:lvl3pPr algn="ctr">
              <a:buNone/>
              <a:defRPr sz="4000" b="1"/>
            </a:lvl3pPr>
            <a:lvl4pPr algn="ctr">
              <a:buNone/>
              <a:defRPr sz="4000" b="1"/>
            </a:lvl4pPr>
            <a:lvl5pPr algn="ctr">
              <a:buNone/>
              <a:defRPr sz="4000" b="1"/>
            </a:lvl5pPr>
          </a:lstStyle>
          <a:p>
            <a:pPr lvl="0"/>
            <a:r>
              <a:rPr lang="ko-KR" altLang="en-US"/>
              <a:t>제목</a:t>
            </a:r>
            <a:endParaRPr lang="en-US" altLang="ko-KR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C899BE02-2933-458E-BA7D-1D8176079E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12975" y="3284112"/>
            <a:ext cx="4718050" cy="6683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000" b="1"/>
            </a:lvl1pPr>
            <a:lvl2pPr algn="ctr">
              <a:buNone/>
              <a:defRPr sz="2000" b="1"/>
            </a:lvl2pPr>
            <a:lvl3pPr algn="ctr">
              <a:buNone/>
              <a:defRPr sz="2000" b="1"/>
            </a:lvl3pPr>
            <a:lvl4pPr algn="ctr">
              <a:buNone/>
              <a:defRPr sz="2000" b="1"/>
            </a:lvl4pPr>
            <a:lvl5pPr algn="ctr">
              <a:buNone/>
              <a:defRPr sz="2000" b="1"/>
            </a:lvl5pPr>
          </a:lstStyle>
          <a:p>
            <a:pPr lvl="0"/>
            <a:r>
              <a:rPr lang="ko-KR" altLang="en-US"/>
              <a:t>소제목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E7498415-7CEF-405A-83F7-4CEE3A3D13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93900" y="5118100"/>
            <a:ext cx="5149850" cy="76676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 altLang="ko-KR"/>
              <a:t>0000</a:t>
            </a:r>
            <a:r>
              <a:rPr lang="ko-KR" altLang="en-US"/>
              <a:t>년 </a:t>
            </a:r>
            <a:r>
              <a:rPr lang="en-US" altLang="ko-KR"/>
              <a:t>00</a:t>
            </a:r>
            <a:r>
              <a:rPr lang="ko-KR" altLang="en-US"/>
              <a:t>월</a:t>
            </a:r>
            <a:endParaRPr lang="en-US" altLang="ko-KR"/>
          </a:p>
          <a:p>
            <a:pPr lvl="0"/>
            <a:r>
              <a:rPr lang="ko-KR" altLang="en-US"/>
              <a:t>회사명 소속팀</a:t>
            </a:r>
          </a:p>
        </p:txBody>
      </p:sp>
    </p:spTree>
    <p:extLst>
      <p:ext uri="{BB962C8B-B14F-4D97-AF65-F5344CB8AC3E}">
        <p14:creationId xmlns:p14="http://schemas.microsoft.com/office/powerpoint/2010/main" val="293172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임원회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0">
            <a:extLst>
              <a:ext uri="{FF2B5EF4-FFF2-40B4-BE49-F238E27FC236}">
                <a16:creationId xmlns:a16="http://schemas.microsoft.com/office/drawing/2014/main" id="{CF5A1FA1-CDED-454B-9B6E-33B5F55E288A}"/>
              </a:ext>
            </a:extLst>
          </p:cNvPr>
          <p:cNvSpPr txBox="1">
            <a:spLocks/>
          </p:cNvSpPr>
          <p:nvPr userDrawn="1"/>
        </p:nvSpPr>
        <p:spPr>
          <a:xfrm>
            <a:off x="3491880" y="6573661"/>
            <a:ext cx="2133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3AEAA-AD5E-4443-A9E4-B3A4C94A4463}" type="slidenum">
              <a:rPr lang="ko-KR" altLang="en-US" sz="1000" b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b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 131">
            <a:extLst>
              <a:ext uri="{FF2B5EF4-FFF2-40B4-BE49-F238E27FC236}">
                <a16:creationId xmlns:a16="http://schemas.microsoft.com/office/drawing/2014/main" id="{B3728511-C500-4E23-9E03-80D6A2DC2D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9" y="629728"/>
            <a:ext cx="8783636" cy="589408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ko-KR" sz="1800" kern="0">
              <a:solidFill>
                <a:srgbClr val="FF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C67124-EBF3-4B84-9392-8560CAF0BF8C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617FAB6-C89B-498A-9A6A-47E07C612D8F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562A694-DE0C-4E58-AF3C-9CB7C84FBA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8C07136D-7F52-4002-92F4-B0A3303250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C8B8E7-72F4-4577-AA02-296FDE282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A6649F29-BBC8-48BC-ABA1-053E33592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5443" y="0"/>
            <a:ext cx="9149443" cy="410954"/>
          </a:xfrm>
          <a:prstGeom prst="rect">
            <a:avLst/>
          </a:prstGeom>
        </p:spPr>
        <p:txBody>
          <a:bodyPr anchor="b"/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5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0">
            <a:extLst>
              <a:ext uri="{FF2B5EF4-FFF2-40B4-BE49-F238E27FC236}">
                <a16:creationId xmlns:a16="http://schemas.microsoft.com/office/drawing/2014/main" id="{CF5A1FA1-CDED-454B-9B6E-33B5F55E288A}"/>
              </a:ext>
            </a:extLst>
          </p:cNvPr>
          <p:cNvSpPr txBox="1">
            <a:spLocks/>
          </p:cNvSpPr>
          <p:nvPr userDrawn="1"/>
        </p:nvSpPr>
        <p:spPr>
          <a:xfrm>
            <a:off x="3491880" y="6573661"/>
            <a:ext cx="2133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3AEAA-AD5E-4443-A9E4-B3A4C94A4463}" type="slidenum">
              <a:rPr lang="ko-KR" altLang="en-US" sz="1000" b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b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C67124-EBF3-4B84-9392-8560CAF0BF8C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617FAB6-C89B-498A-9A6A-47E07C612D8F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562A694-DE0C-4E58-AF3C-9CB7C84FBA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8C07136D-7F52-4002-92F4-B0A3303250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C8B8E7-72F4-4577-AA02-296FDE282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  <p:sp>
        <p:nvSpPr>
          <p:cNvPr id="2" name="텍스트 개체 틀 32">
            <a:extLst>
              <a:ext uri="{FF2B5EF4-FFF2-40B4-BE49-F238E27FC236}">
                <a16:creationId xmlns:a16="http://schemas.microsoft.com/office/drawing/2014/main" id="{2EAC846E-413D-3623-401F-EE525E6F93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5443" y="0"/>
            <a:ext cx="9149443" cy="410954"/>
          </a:xfrm>
          <a:prstGeom prst="rect">
            <a:avLst/>
          </a:prstGeom>
        </p:spPr>
        <p:txBody>
          <a:bodyPr anchor="b"/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33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510930" y="6525344"/>
            <a:ext cx="2133600" cy="365125"/>
          </a:xfrm>
        </p:spPr>
        <p:txBody>
          <a:bodyPr/>
          <a:lstStyle>
            <a:lvl1pPr algn="ctr">
              <a:defRPr sz="1000"/>
            </a:lvl1pPr>
          </a:lstStyle>
          <a:p>
            <a:fld id="{2DE6C33F-ADFD-4BD4-820B-A1DEA6C4055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90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바닥글 개체 틀 27">
            <a:extLst>
              <a:ext uri="{FF2B5EF4-FFF2-40B4-BE49-F238E27FC236}">
                <a16:creationId xmlns:a16="http://schemas.microsoft.com/office/drawing/2014/main" id="{B501E337-EBC1-4EA9-897A-AE3EBE1C892D}"/>
              </a:ext>
            </a:extLst>
          </p:cNvPr>
          <p:cNvSpPr txBox="1">
            <a:spLocks/>
          </p:cNvSpPr>
          <p:nvPr userDrawn="1"/>
        </p:nvSpPr>
        <p:spPr>
          <a:xfrm>
            <a:off x="6140896" y="6573661"/>
            <a:ext cx="2895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>
                <a:solidFill>
                  <a:schemeClr val="bg1">
                    <a:lumMod val="50000"/>
                  </a:schemeClr>
                </a:solidFill>
              </a:rPr>
              <a:t>㈜이수 기획팀</a:t>
            </a:r>
          </a:p>
        </p:txBody>
      </p:sp>
      <p:sp>
        <p:nvSpPr>
          <p:cNvPr id="9" name="바닥글 개체 틀 27">
            <a:extLst>
              <a:ext uri="{FF2B5EF4-FFF2-40B4-BE49-F238E27FC236}">
                <a16:creationId xmlns:a16="http://schemas.microsoft.com/office/drawing/2014/main" id="{03A5AD31-BFD0-4A2B-A6E4-0ED0827D3022}"/>
              </a:ext>
            </a:extLst>
          </p:cNvPr>
          <p:cNvSpPr txBox="1">
            <a:spLocks/>
          </p:cNvSpPr>
          <p:nvPr userDrawn="1"/>
        </p:nvSpPr>
        <p:spPr>
          <a:xfrm>
            <a:off x="107504" y="6573661"/>
            <a:ext cx="2895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>
                <a:solidFill>
                  <a:schemeClr val="bg1">
                    <a:lumMod val="50000"/>
                  </a:schemeClr>
                </a:solidFill>
              </a:rPr>
              <a:t>이수그룹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DFB41A-60B5-4BA9-B43F-0AAEA9BDE774}"/>
              </a:ext>
            </a:extLst>
          </p:cNvPr>
          <p:cNvGrpSpPr/>
          <p:nvPr userDrawn="1"/>
        </p:nvGrpSpPr>
        <p:grpSpPr>
          <a:xfrm>
            <a:off x="794" y="419178"/>
            <a:ext cx="9142413" cy="67952"/>
            <a:chOff x="4836" y="507050"/>
            <a:chExt cx="9142413" cy="6795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A967F42-3F8F-4411-8BDC-29A6CB048135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FB0DB09C-454F-4153-9526-5450775CCE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B4BCE852-E79B-493F-8927-CFB7770C78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4C440A4-6281-49BA-9A39-601E1C72B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731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4" r:id="rId3"/>
    <p:sldLayoutId id="214748367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3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cK Date">
            <a:extLst>
              <a:ext uri="{FF2B5EF4-FFF2-40B4-BE49-F238E27FC236}">
                <a16:creationId xmlns:a16="http://schemas.microsoft.com/office/drawing/2014/main" id="{68B48926-26F5-BD2B-1683-C540D42F50B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07393" y="4550032"/>
            <a:ext cx="5129213" cy="6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latinLnBrk="0" hangingPunct="1">
              <a:lnSpc>
                <a:spcPct val="150000"/>
              </a:lnSpc>
            </a:pPr>
            <a:r>
              <a:rPr kumimoji="0" lang="en-US" altLang="ko-KR" sz="1600" b="1">
                <a:latin typeface="+mn-ea"/>
                <a:ea typeface="+mn-ea"/>
              </a:rPr>
              <a:t>’26</a:t>
            </a:r>
            <a:r>
              <a:rPr kumimoji="0" lang="ko-KR" altLang="en-US" sz="1600" b="1">
                <a:latin typeface="+mn-ea"/>
                <a:ea typeface="+mn-ea"/>
              </a:rPr>
              <a:t>년 </a:t>
            </a:r>
            <a:r>
              <a:rPr kumimoji="0" lang="en-US" altLang="ko-KR" sz="1600" b="1">
                <a:latin typeface="+mn-ea"/>
                <a:ea typeface="+mn-ea"/>
              </a:rPr>
              <a:t>2</a:t>
            </a:r>
            <a:r>
              <a:rPr kumimoji="0" lang="ko-KR" altLang="en-US" sz="1600" b="1">
                <a:latin typeface="+mn-ea"/>
                <a:ea typeface="+mn-ea"/>
              </a:rPr>
              <a:t>월</a:t>
            </a:r>
            <a:br>
              <a:rPr kumimoji="0" lang="en-US" altLang="ko-KR" sz="1600" b="1">
                <a:latin typeface="+mn-ea"/>
                <a:ea typeface="+mn-ea"/>
              </a:rPr>
            </a:br>
            <a:r>
              <a:rPr kumimoji="0" lang="ko-KR" altLang="en-US" sz="1600" b="1">
                <a:latin typeface="+mn-ea"/>
                <a:ea typeface="+mn-ea"/>
              </a:rPr>
              <a:t>㈜이수 기획팀</a:t>
            </a:r>
            <a:endParaRPr kumimoji="0" lang="en-US" altLang="ko-KR" sz="1600" b="1">
              <a:latin typeface="+mn-ea"/>
              <a:ea typeface="+mn-e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1982BD7-5340-3B9C-AB4F-0C1C50A8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272270"/>
            <a:ext cx="7178675" cy="1325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4000" b="1">
                <a:latin typeface="맑은 고딕"/>
                <a:ea typeface="맑은 고딕"/>
              </a:rPr>
              <a:t>AI</a:t>
            </a:r>
            <a:r>
              <a:rPr lang="ko-KR" altLang="en-US" sz="4000" b="1">
                <a:latin typeface="맑은 고딕"/>
                <a:ea typeface="맑은 고딕"/>
              </a:rPr>
              <a:t> 에이전트 시장 동향</a:t>
            </a:r>
            <a:br>
              <a:rPr lang="en-US" altLang="ko-KR">
                <a:latin typeface="맑은 고딕"/>
                <a:ea typeface="맑은 고딕"/>
              </a:rPr>
            </a:br>
            <a:r>
              <a:rPr lang="en-US" altLang="ko-KR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”</a:t>
            </a:r>
            <a:r>
              <a:rPr lang="en-US" altLang="ko-KR" b="1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SaaSpocalypse</a:t>
            </a:r>
            <a:r>
              <a:rPr lang="en-US" altLang="ko-KR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”, </a:t>
            </a:r>
            <a:r>
              <a:rPr lang="ko-KR" altLang="en-US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엔터프라이즈 소프트웨어 경제의 재구성</a:t>
            </a:r>
            <a:endParaRPr lang="en-US" altLang="ko-KR" sz="4000" b="1">
              <a:solidFill>
                <a:schemeClr val="tx1">
                  <a:lumMod val="50000"/>
                  <a:lumOff val="50000"/>
                </a:scheme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5664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17774-5788-CB6D-32ED-DD84B0C5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4A6803CE-7693-889F-6E6A-69500698A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" y="35332"/>
            <a:ext cx="70531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Executive Summary</a:t>
            </a:r>
            <a:endParaRPr kumimoji="1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C2E9B01-3CDF-6008-EF74-65C670862A0A}"/>
              </a:ext>
            </a:extLst>
          </p:cNvPr>
          <p:cNvGrpSpPr/>
          <p:nvPr/>
        </p:nvGrpSpPr>
        <p:grpSpPr>
          <a:xfrm>
            <a:off x="612000" y="1208310"/>
            <a:ext cx="7920001" cy="1293688"/>
            <a:chOff x="406355" y="1284510"/>
            <a:chExt cx="7920001" cy="1293688"/>
          </a:xfrm>
        </p:grpSpPr>
        <p:sp>
          <p:nvSpPr>
            <p:cNvPr id="2" name="Text Box 92">
              <a:extLst>
                <a:ext uri="{FF2B5EF4-FFF2-40B4-BE49-F238E27FC236}">
                  <a16:creationId xmlns:a16="http://schemas.microsoft.com/office/drawing/2014/main" id="{F27E06A1-749D-845E-5FBF-7F2919D2E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55" y="1284510"/>
              <a:ext cx="7920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95250" indent="-952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177800" indent="-68263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5250" algn="l"/>
                </a:tabLst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[ </a:t>
              </a:r>
              <a:r>
                <a:rPr lang="ko-KR" altLang="en-US" sz="1400" b="1">
                  <a:solidFill>
                    <a:prstClr val="black"/>
                  </a:solidFill>
                  <a:latin typeface="+mn-ea"/>
                  <a:ea typeface="+mn-ea"/>
                </a:rPr>
                <a:t>기술</a:t>
              </a:r>
              <a:r>
                <a:rPr lang="en-US" altLang="ko-KR" sz="1400" b="1">
                  <a:solidFill>
                    <a:prstClr val="black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400" b="1">
                  <a:solidFill>
                    <a:prstClr val="black"/>
                  </a:solidFill>
                  <a:latin typeface="+mn-ea"/>
                  <a:ea typeface="+mn-ea"/>
                </a:rPr>
                <a:t>동향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]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대화형 </a:t>
              </a:r>
              <a:r>
                <a:rPr kumimoji="1" lang="ko-KR" altLang="en-US" sz="1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챗봇에서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행동하는 에이전트 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AI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로의 패러다임 전환</a:t>
              </a:r>
              <a:endPara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7DBAD6-335F-696F-AB87-19A58CE10EC5}"/>
                </a:ext>
              </a:extLst>
            </p:cNvPr>
            <p:cNvSpPr txBox="1"/>
            <p:nvPr/>
          </p:nvSpPr>
          <p:spPr>
            <a:xfrm>
              <a:off x="406356" y="1499954"/>
              <a:ext cx="7920000" cy="1078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u="sng">
                  <a:latin typeface="+mn-ea"/>
                </a:rPr>
                <a:t>지난 </a:t>
              </a:r>
              <a:r>
                <a:rPr lang="en-US" altLang="ko-KR" sz="1200" u="sng">
                  <a:latin typeface="+mn-ea"/>
                </a:rPr>
                <a:t>1</a:t>
              </a:r>
              <a:r>
                <a:rPr lang="ko-KR" altLang="en-US" sz="1200" u="sng">
                  <a:latin typeface="+mn-ea"/>
                </a:rPr>
                <a:t>월</a:t>
              </a:r>
              <a:r>
                <a:rPr lang="en-US" altLang="ko-KR" sz="1200" u="sng">
                  <a:latin typeface="+mn-ea"/>
                </a:rPr>
                <a:t>, </a:t>
              </a:r>
              <a:r>
                <a:rPr lang="ko-KR" altLang="en-US" sz="1200" u="sng" err="1">
                  <a:latin typeface="+mn-ea"/>
                </a:rPr>
                <a:t>앤스로픽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(Anthropic)</a:t>
              </a:r>
              <a:r>
                <a:rPr lang="ko-KR" altLang="en-US" sz="1200" u="sng">
                  <a:latin typeface="+mn-ea"/>
                </a:rPr>
                <a:t>의 </a:t>
              </a:r>
              <a:r>
                <a:rPr lang="en-US" altLang="ko-KR" sz="1200" u="sng">
                  <a:latin typeface="+mn-ea"/>
                </a:rPr>
                <a:t>‘</a:t>
              </a:r>
              <a:r>
                <a:rPr lang="ko-KR" altLang="en-US" sz="1200" u="sng" err="1">
                  <a:latin typeface="+mn-ea"/>
                </a:rPr>
                <a:t>클로드</a:t>
              </a:r>
              <a:r>
                <a:rPr lang="ko-KR" altLang="en-US" sz="1200" u="sng">
                  <a:latin typeface="+mn-ea"/>
                </a:rPr>
                <a:t> </a:t>
              </a:r>
              <a:r>
                <a:rPr lang="ko-KR" altLang="en-US" sz="1200" u="sng" err="1">
                  <a:latin typeface="+mn-ea"/>
                </a:rPr>
                <a:t>코워크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(Claude </a:t>
              </a:r>
              <a:r>
                <a:rPr lang="en-US" altLang="ko-KR" sz="1000" u="sng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Cowork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r>
                <a:rPr lang="en-US" altLang="ko-KR" sz="1200" u="sng">
                  <a:latin typeface="+mn-ea"/>
                </a:rPr>
                <a:t>’</a:t>
              </a:r>
              <a:r>
                <a:rPr lang="ko-KR" altLang="en-US" sz="1200" u="sng">
                  <a:latin typeface="+mn-ea"/>
                </a:rPr>
                <a:t>와 오픈소스인 </a:t>
              </a:r>
              <a:r>
                <a:rPr lang="en-US" altLang="ko-KR" sz="1200" u="sng">
                  <a:latin typeface="+mn-ea"/>
                </a:rPr>
                <a:t>‘</a:t>
              </a:r>
              <a:r>
                <a:rPr lang="ko-KR" altLang="en-US" sz="1200" u="sng" err="1">
                  <a:latin typeface="+mn-ea"/>
                </a:rPr>
                <a:t>오픈클로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en-US" altLang="ko-KR" sz="1000" u="sng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OpenClaw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r>
                <a:rPr lang="en-US" altLang="ko-KR" sz="1200" u="sng">
                  <a:latin typeface="+mn-ea"/>
                </a:rPr>
                <a:t>’</a:t>
              </a:r>
              <a:r>
                <a:rPr lang="ko-KR" altLang="en-US" sz="1200" u="sng">
                  <a:latin typeface="+mn-ea"/>
                </a:rPr>
                <a:t>의 등장은 </a:t>
              </a:r>
              <a:r>
                <a:rPr lang="en-US" altLang="ko-KR" sz="1200" u="sng">
                  <a:latin typeface="+mn-ea"/>
                </a:rPr>
                <a:t>AI</a:t>
              </a:r>
              <a:r>
                <a:rPr lang="ko-KR" altLang="en-US" sz="1200" u="sng">
                  <a:latin typeface="+mn-ea"/>
                </a:rPr>
                <a:t>의 역할을 단순 문답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(Chat)</a:t>
              </a:r>
              <a:r>
                <a:rPr lang="ko-KR" altLang="en-US" sz="1200" u="sng">
                  <a:latin typeface="+mn-ea"/>
                </a:rPr>
                <a:t>에서 업무 완결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(Action)</a:t>
              </a:r>
              <a:r>
                <a:rPr lang="ko-KR" altLang="en-US" sz="1200" u="sng">
                  <a:latin typeface="+mn-ea"/>
                </a:rPr>
                <a:t>으로 격상시켰습니다</a:t>
              </a:r>
              <a:r>
                <a:rPr lang="en-US" altLang="ko-KR" sz="1200" u="sng">
                  <a:latin typeface="+mn-ea"/>
                </a:rPr>
                <a:t>.</a:t>
              </a:r>
              <a:endParaRPr lang="en-US" altLang="ko-KR" sz="1200" b="1" u="sng"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단순 답변 제공을 넘어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내 컴퓨터의 파일 시스템에 직접 접속해 다단계 추론과 실행을 수행하는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‘AI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신입사원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’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의 등장</a:t>
              </a:r>
              <a:endPara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특히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법률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등 전문 영역 플러그인과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‘</a:t>
              </a:r>
              <a:r>
                <a:rPr lang="ko-KR" alt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몰트북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(</a:t>
              </a:r>
              <a:r>
                <a:rPr lang="en-US" altLang="ko-KR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Moltbook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)’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생태계를 통한 기능의 무한 확장은 기존 소프트웨어 시장 질서를 위협</a:t>
              </a:r>
              <a:endPara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83F5C70-AADE-80D6-C990-5CCF23306F02}"/>
              </a:ext>
            </a:extLst>
          </p:cNvPr>
          <p:cNvGrpSpPr/>
          <p:nvPr/>
        </p:nvGrpSpPr>
        <p:grpSpPr>
          <a:xfrm>
            <a:off x="612000" y="2921656"/>
            <a:ext cx="7920001" cy="1293688"/>
            <a:chOff x="406354" y="2908038"/>
            <a:chExt cx="7920001" cy="1293688"/>
          </a:xfrm>
        </p:grpSpPr>
        <p:sp>
          <p:nvSpPr>
            <p:cNvPr id="5" name="Text Box 92">
              <a:extLst>
                <a:ext uri="{FF2B5EF4-FFF2-40B4-BE49-F238E27FC236}">
                  <a16:creationId xmlns:a16="http://schemas.microsoft.com/office/drawing/2014/main" id="{CC09B77B-3AAE-4697-BDA4-735D40271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54" y="2908038"/>
              <a:ext cx="7920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95250" indent="-952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177800" indent="-68263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5250" algn="l"/>
                </a:tabLst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[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시장 반응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]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라이선스</a:t>
              </a:r>
              <a:r>
                <a:rPr kumimoji="1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</a:t>
              </a:r>
              <a:r>
                <a:rPr kumimoji="1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사용자 수</a:t>
              </a:r>
              <a:r>
                <a:rPr kumimoji="1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)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기반 성장 공식의 붕괴와 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‘</a:t>
              </a:r>
              <a:r>
                <a:rPr kumimoji="1" lang="en-US" altLang="ko-KR" sz="1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SaaSpocalypse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’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현실화</a:t>
              </a:r>
              <a:endPara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1A6569-E023-FF6F-0270-55F5B3900D87}"/>
                </a:ext>
              </a:extLst>
            </p:cNvPr>
            <p:cNvSpPr txBox="1"/>
            <p:nvPr/>
          </p:nvSpPr>
          <p:spPr>
            <a:xfrm>
              <a:off x="406355" y="3123482"/>
              <a:ext cx="7920000" cy="1078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u="sng">
                  <a:latin typeface="+mn-ea"/>
                </a:rPr>
                <a:t>AI </a:t>
              </a:r>
              <a:r>
                <a:rPr lang="ko-KR" altLang="en-US" sz="1200" u="sng">
                  <a:latin typeface="+mn-ea"/>
                </a:rPr>
                <a:t>에이전트에 의한 생산성 혁명이 역설적으로 </a:t>
              </a:r>
              <a:r>
                <a:rPr lang="en-US" altLang="ko-KR" sz="1200" u="sng">
                  <a:latin typeface="+mn-ea"/>
                </a:rPr>
                <a:t>B2B </a:t>
              </a:r>
              <a:r>
                <a:rPr lang="ko-KR" altLang="en-US" sz="1200" u="sng">
                  <a:latin typeface="+mn-ea"/>
                </a:rPr>
                <a:t>소프트웨어의 핵심 수익모델인 사용자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(User)</a:t>
              </a:r>
              <a:r>
                <a:rPr lang="ko-KR" altLang="en-US" sz="1200" u="sng">
                  <a:latin typeface="+mn-ea"/>
                </a:rPr>
                <a:t> 수 기반 과금을 붕괴시키며</a:t>
              </a:r>
              <a:r>
                <a:rPr lang="en-US" altLang="ko-KR" sz="1200" u="sng">
                  <a:latin typeface="+mn-ea"/>
                </a:rPr>
                <a:t>, </a:t>
              </a:r>
              <a:r>
                <a:rPr lang="ko-KR" altLang="en-US" sz="1200" u="sng">
                  <a:latin typeface="+mn-ea"/>
                </a:rPr>
                <a:t>단 일주일 만에 약 </a:t>
              </a:r>
              <a:r>
                <a:rPr lang="en-US" altLang="ko-KR" sz="1200" u="sng">
                  <a:latin typeface="+mn-ea"/>
                </a:rPr>
                <a:t>2,850</a:t>
              </a:r>
              <a:r>
                <a:rPr lang="ko-KR" altLang="en-US" sz="1200" u="sng">
                  <a:latin typeface="+mn-ea"/>
                </a:rPr>
                <a:t>억 달러의 시가총액이 증발했습니다</a:t>
              </a:r>
              <a:r>
                <a:rPr lang="en-US" altLang="ko-KR" sz="1200" u="sng">
                  <a:latin typeface="+mn-ea"/>
                </a:rPr>
                <a:t>.</a:t>
              </a:r>
              <a:endParaRPr lang="en-US" altLang="ko-KR" sz="1200" b="1" u="sng"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고객사가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AI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를 도입해 성공할수록 필요한 라이선스 수가 줄어드는 성장의 역설에 직면</a:t>
              </a:r>
              <a:endPara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Salesforce, Adobe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등 주요 </a:t>
              </a:r>
              <a:r>
                <a:rPr lang="ko-KR" alt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기술주뿐만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아니라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, Thomson Reuter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등 전문 서비스 기업까지 무차별적인 </a:t>
              </a:r>
              <a:r>
                <a:rPr lang="ko-KR" alt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매도세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직면</a:t>
              </a:r>
              <a:endPara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384950D-8699-7812-7D05-1ED1A6EF1BBD}"/>
              </a:ext>
            </a:extLst>
          </p:cNvPr>
          <p:cNvGrpSpPr/>
          <p:nvPr/>
        </p:nvGrpSpPr>
        <p:grpSpPr>
          <a:xfrm>
            <a:off x="611999" y="4635002"/>
            <a:ext cx="7920001" cy="1293688"/>
            <a:chOff x="406354" y="2908038"/>
            <a:chExt cx="7920001" cy="1293688"/>
          </a:xfrm>
        </p:grpSpPr>
        <p:sp>
          <p:nvSpPr>
            <p:cNvPr id="11" name="Text Box 92">
              <a:extLst>
                <a:ext uri="{FF2B5EF4-FFF2-40B4-BE49-F238E27FC236}">
                  <a16:creationId xmlns:a16="http://schemas.microsoft.com/office/drawing/2014/main" id="{8A8114A7-0598-97B6-58DE-616FDD829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54" y="2908038"/>
              <a:ext cx="7920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95250" indent="-952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177800" indent="-68263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5250" algn="l"/>
                </a:tabLst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[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대응 전략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] ‘Shadow AI’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확산 대비 및 현 </a:t>
              </a: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AI Portal </a:t>
              </a:r>
              <a:r>
                <a:rPr kumimoji="1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전략의 전면 재검토 필요</a:t>
              </a:r>
              <a:endPara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918002-9EB2-CC5B-DB74-9EBA440F84DD}"/>
                </a:ext>
              </a:extLst>
            </p:cNvPr>
            <p:cNvSpPr txBox="1"/>
            <p:nvPr/>
          </p:nvSpPr>
          <p:spPr>
            <a:xfrm>
              <a:off x="406355" y="3123482"/>
              <a:ext cx="7920000" cy="1078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u="sng">
                  <a:latin typeface="+mn-ea"/>
                </a:rPr>
                <a:t>향후 누구나 개발자가 되는 </a:t>
              </a:r>
              <a:r>
                <a:rPr lang="en-US" altLang="ko-KR" sz="1200" u="sng">
                  <a:latin typeface="+mn-ea"/>
                </a:rPr>
                <a:t>‘</a:t>
              </a:r>
              <a:r>
                <a:rPr lang="ko-KR" altLang="en-US" sz="1200" u="sng" err="1">
                  <a:latin typeface="+mn-ea"/>
                </a:rPr>
                <a:t>바이브</a:t>
              </a:r>
              <a:r>
                <a:rPr lang="ko-KR" altLang="en-US" sz="1200" u="sng">
                  <a:latin typeface="+mn-ea"/>
                </a:rPr>
                <a:t> 코딩</a:t>
              </a:r>
              <a:r>
                <a:rPr lang="en-US" altLang="ko-KR" sz="1200" u="sng">
                  <a:latin typeface="+mn-ea"/>
                </a:rPr>
                <a:t>’ </a:t>
              </a:r>
              <a:r>
                <a:rPr lang="ko-KR" altLang="en-US" sz="1200" u="sng">
                  <a:latin typeface="+mn-ea"/>
                </a:rPr>
                <a:t>시대가 도래함에 따라</a:t>
              </a:r>
              <a:r>
                <a:rPr lang="en-US" altLang="ko-KR" sz="1200" u="sng">
                  <a:latin typeface="+mn-ea"/>
                </a:rPr>
                <a:t>, </a:t>
              </a:r>
              <a:r>
                <a:rPr lang="ko-KR" altLang="en-US" sz="1200" u="sng">
                  <a:latin typeface="+mn-ea"/>
                </a:rPr>
                <a:t>현업이 통제 불가능한 에이전트</a:t>
              </a:r>
              <a:r>
                <a:rPr lang="en-US" altLang="ko-KR" sz="10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(Shadow AI)</a:t>
              </a:r>
              <a:r>
                <a:rPr lang="ko-KR" altLang="en-US" sz="1200" u="sng">
                  <a:latin typeface="+mn-ea"/>
                </a:rPr>
                <a:t>를 무단 사용할 위험이 커지고 있습니다</a:t>
              </a:r>
              <a:r>
                <a:rPr lang="en-US" altLang="ko-KR" sz="1200" u="sng">
                  <a:latin typeface="+mn-ea"/>
                </a:rPr>
                <a:t>.</a:t>
              </a:r>
              <a:endParaRPr lang="en-US" altLang="ko-KR" sz="1200" b="1" u="sng"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단순 질의응답 중심의 현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AI Portal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전략만으로는 실질적 업무를 수행하는 외부 에이전트와의 효용 경쟁에서 뒤처질 우려 존재</a:t>
              </a:r>
              <a:endPara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이에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기존 </a:t>
              </a:r>
              <a:r>
                <a:rPr lang="ko-KR" alt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챗봇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중심이 구축 방향을 점검하고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,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실행형 에이전트 기술을 수용할 수 있는 플랫폼으로의 전환 및 고도화 방안을 검토</a:t>
              </a:r>
              <a:endPara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53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9C85-EB50-7E14-41F9-C0E823FD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9">
            <a:extLst>
              <a:ext uri="{FF2B5EF4-FFF2-40B4-BE49-F238E27FC236}">
                <a16:creationId xmlns:a16="http://schemas.microsoft.com/office/drawing/2014/main" id="{A991A69C-CCB1-199B-7FC1-9F1266893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0792"/>
            <a:ext cx="9144000" cy="6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44000" marR="0" lvl="0" algn="l" defTabSz="914400" rtl="0" eaLnBrk="1" fontAlgn="auto" latinLnBrk="1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기업용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AI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인턴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클로드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코워크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과 자율 에이전트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오픈클로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가 동시에 급부상하면서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AI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ko-KR" altLang="en-US" sz="1600">
                <a:latin typeface="맑은 고딕" pitchFamily="50" charset="-127"/>
                <a:ea typeface="맑은 고딕" pitchFamily="50" charset="-127"/>
              </a:rPr>
              <a:t>더이상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말만 잘하는 채팅에서 끝나지 않고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내 컴퓨터와 기기를 직접 조작하는 에이전트로 바뀌고 있습니다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5CA2865E-290B-DC39-A616-57B769988CE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ko-KR" sz="1800" b="1">
                <a:latin typeface="맑은 고딕"/>
                <a:ea typeface="맑은 고딕" pitchFamily="50" charset="-127"/>
              </a:rPr>
              <a:t>1. AI </a:t>
            </a:r>
            <a:r>
              <a:rPr kumimoji="1" lang="ko-KR" altLang="en-US" sz="1800" b="1">
                <a:latin typeface="맑은 고딕"/>
                <a:ea typeface="맑은 고딕" pitchFamily="50" charset="-127"/>
              </a:rPr>
              <a:t>기술 동향</a:t>
            </a:r>
          </a:p>
        </p:txBody>
      </p:sp>
      <p:sp>
        <p:nvSpPr>
          <p:cNvPr id="2" name="Rectangle 168">
            <a:extLst>
              <a:ext uri="{FF2B5EF4-FFF2-40B4-BE49-F238E27FC236}">
                <a16:creationId xmlns:a16="http://schemas.microsoft.com/office/drawing/2014/main" id="{D7F34F5E-53AA-A5C6-B87B-DDF5C1F5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461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>
                <a:latin typeface="+mn-ea"/>
              </a:rPr>
              <a:t>핵심 시사점</a:t>
            </a:r>
            <a:endParaRPr lang="en-US" altLang="ko-KR" sz="1600" b="1"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666C18F-D2D6-7E55-1361-D5F5B66521D0}"/>
              </a:ext>
            </a:extLst>
          </p:cNvPr>
          <p:cNvCxnSpPr>
            <a:cxnSpLocks/>
          </p:cNvCxnSpPr>
          <p:nvPr/>
        </p:nvCxnSpPr>
        <p:spPr bwMode="auto">
          <a:xfrm>
            <a:off x="4698461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168">
            <a:extLst>
              <a:ext uri="{FF2B5EF4-FFF2-40B4-BE49-F238E27FC236}">
                <a16:creationId xmlns:a16="http://schemas.microsoft.com/office/drawing/2014/main" id="{1B3E133A-C90D-2D2D-3460-04D605F24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480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>
                <a:solidFill>
                  <a:prstClr val="black"/>
                </a:solidFill>
                <a:latin typeface="+mn-ea"/>
              </a:rPr>
              <a:t>실행하는 </a:t>
            </a:r>
            <a:r>
              <a:rPr lang="en-US" altLang="ko-KR" sz="1600" b="1">
                <a:solidFill>
                  <a:prstClr val="black"/>
                </a:solidFill>
                <a:latin typeface="+mn-ea"/>
              </a:rPr>
              <a:t>AI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2CADF10-E3E0-8FB4-A167-D6477CE8A091}"/>
              </a:ext>
            </a:extLst>
          </p:cNvPr>
          <p:cNvCxnSpPr>
            <a:cxnSpLocks/>
          </p:cNvCxnSpPr>
          <p:nvPr/>
        </p:nvCxnSpPr>
        <p:spPr bwMode="auto">
          <a:xfrm>
            <a:off x="387480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89DF39-8BDB-2DFE-6C13-63A33C5BD535}"/>
              </a:ext>
            </a:extLst>
          </p:cNvPr>
          <p:cNvSpPr txBox="1"/>
          <p:nvPr/>
        </p:nvSpPr>
        <p:spPr>
          <a:xfrm>
            <a:off x="1139202" y="2754764"/>
            <a:ext cx="3208278" cy="1072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spAutoFit/>
          </a:bodyPr>
          <a:lstStyle/>
          <a:p>
            <a:pPr marL="180000" marR="0" lvl="0" indent="-10800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내 컴퓨터 </a:t>
            </a:r>
            <a:r>
              <a:rPr lang="ko-KR" altLang="en-US" sz="1200" b="1" kern="0">
                <a:solidFill>
                  <a:prstClr val="black"/>
                </a:solidFill>
                <a:highlight>
                  <a:srgbClr val="FFFF00"/>
                </a:highlight>
                <a:latin typeface="+mn-ea"/>
              </a:rPr>
              <a:t>파일 시스템과 폴더를 직접 제어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하며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업무를 완결하는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인턴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80000" marR="0" lvl="0" indent="-10800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단순 채팅이 아닌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b="1" kern="0">
                <a:solidFill>
                  <a:prstClr val="black"/>
                </a:solidFill>
                <a:highlight>
                  <a:srgbClr val="FFFF00"/>
                </a:highlight>
                <a:latin typeface="+mn-ea"/>
              </a:rPr>
              <a:t>로컬 환경에서 다단계 추론을 거쳐 실질적인 결과물을 생성</a:t>
            </a:r>
            <a:endParaRPr kumimoji="0" lang="ko-KR" altLang="en-US" sz="1200" b="1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Text Box 92">
            <a:extLst>
              <a:ext uri="{FF2B5EF4-FFF2-40B4-BE49-F238E27FC236}">
                <a16:creationId xmlns:a16="http://schemas.microsoft.com/office/drawing/2014/main" id="{873BCB91-AD30-0C0A-C240-A9F820D6F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80" y="4304400"/>
            <a:ext cx="39600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95250" indent="-952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177800" indent="-682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5250" algn="l"/>
              </a:tabLst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[ </a:t>
            </a:r>
            <a:r>
              <a:rPr kumimoji="1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클로드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코</a:t>
            </a:r>
            <a:r>
              <a:rPr lang="ko-KR" altLang="en-US" sz="1400" b="1">
                <a:solidFill>
                  <a:prstClr val="black"/>
                </a:solidFill>
                <a:latin typeface="+mn-ea"/>
                <a:ea typeface="+mn-ea"/>
              </a:rPr>
              <a:t>워크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(Claude </a:t>
            </a:r>
            <a:r>
              <a:rPr lang="en-US" altLang="ko-KR" sz="1200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Cowork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)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3C9CE-2C3D-F7FE-E805-3A8ACCE23424}"/>
              </a:ext>
            </a:extLst>
          </p:cNvPr>
          <p:cNvSpPr txBox="1"/>
          <p:nvPr/>
        </p:nvSpPr>
        <p:spPr>
          <a:xfrm>
            <a:off x="387478" y="4550397"/>
            <a:ext cx="3959999" cy="7952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L="171450" marR="0" lvl="0" indent="-1714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11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가지 전문 플러그인 제공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특히 법률 플러그인은 클릭 한번으로 계약서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및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NDA 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검토 등 전문직 업무 완결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71450" marR="0" lvl="0" indent="-1714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기성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SW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 서비스 시장 즉각적으로 대체할 것으로 예상</a:t>
            </a:r>
            <a:endParaRPr kumimoji="0" lang="ko-KR" altLang="en-US" sz="120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7C354-7BCC-C5E0-8F77-08C38415019C}"/>
              </a:ext>
            </a:extLst>
          </p:cNvPr>
          <p:cNvSpPr txBox="1"/>
          <p:nvPr/>
        </p:nvSpPr>
        <p:spPr>
          <a:xfrm>
            <a:off x="387474" y="3906813"/>
            <a:ext cx="3959999" cy="241285"/>
          </a:xfrm>
          <a:prstGeom prst="rect">
            <a:avLst/>
          </a:prstGeom>
          <a:gradFill>
            <a:gsLst>
              <a:gs pos="3000">
                <a:schemeClr val="tx2">
                  <a:alpha val="85000"/>
                  <a:lumMod val="12000"/>
                  <a:lumOff val="88000"/>
                </a:schemeClr>
              </a:gs>
              <a:gs pos="9600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tabLst/>
              <a:defRPr/>
            </a:pP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→ 단순 </a:t>
            </a:r>
            <a:r>
              <a:rPr lang="en-US" altLang="ko-KR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API</a:t>
            </a:r>
            <a:r>
              <a:rPr lang="en-US" altLang="ko-KR" sz="1000" b="1" i="1" ker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(</a:t>
            </a:r>
            <a:r>
              <a:rPr lang="ko-KR" altLang="en-US" sz="1000" b="1" i="1" ker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엔진</a:t>
            </a:r>
            <a:r>
              <a:rPr lang="en-US" altLang="ko-KR" sz="1000" b="1" i="1" ker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)</a:t>
            </a: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 제공이 아닌 완성된 서비스</a:t>
            </a:r>
            <a:r>
              <a:rPr lang="en-US" altLang="ko-KR" sz="1000" b="1" i="1" ker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(</a:t>
            </a:r>
            <a:r>
              <a:rPr lang="ko-KR" altLang="en-US" sz="1000" b="1" i="1" ker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자동차</a:t>
            </a:r>
            <a:r>
              <a:rPr lang="en-US" altLang="ko-KR" sz="1000" b="1" i="1" ker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)</a:t>
            </a: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 제공 </a:t>
            </a:r>
            <a:endParaRPr kumimoji="0" lang="ko-KR" altLang="en-US" sz="1200" b="1" i="1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glow rad="63500">
                  <a:schemeClr val="bg1"/>
                </a:glow>
              </a:effectLst>
              <a:uLnTx/>
              <a:uFillTx/>
              <a:latin typeface="+mn-ea"/>
              <a:cs typeface="+mn-cs"/>
            </a:endParaRPr>
          </a:p>
        </p:txBody>
      </p:sp>
      <p:pic>
        <p:nvPicPr>
          <p:cNvPr id="1026" name="Picture 2" descr="오늘 핫했던 클로드 코워크 기능에 대한 좋은 아티클입니다. 더 높은 생산성을 위해 AI 기술을 가까이 해야 하는데 터미널이라는 문턱에  막힌 사람들을 위한 기회입니다. 본문에서 적어주신 것처럼 프롬프트 인젝션 등을 포함한 보안 문제는">
            <a:extLst>
              <a:ext uri="{FF2B5EF4-FFF2-40B4-BE49-F238E27FC236}">
                <a16:creationId xmlns:a16="http://schemas.microsoft.com/office/drawing/2014/main" id="{88630D81-70A7-8FA0-E3C3-226D32A17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80" y="1771625"/>
            <a:ext cx="2260451" cy="90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오픈클로' 폭주로 스팸 메시지 500개 이상 발송...&quot;치명적 3대 요소 모두 갖춰&quot; &lt; 산업일반 &lt; AI산업 &lt; 기사본문 - AI타임스">
            <a:extLst>
              <a:ext uri="{FF2B5EF4-FFF2-40B4-BE49-F238E27FC236}">
                <a16:creationId xmlns:a16="http://schemas.microsoft.com/office/drawing/2014/main" id="{356FB389-2463-E769-86C3-F15ABF285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042" y="1771625"/>
            <a:ext cx="1606438" cy="90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CA0CC8-F06A-DE71-6865-81DCD9CBAC20}"/>
              </a:ext>
            </a:extLst>
          </p:cNvPr>
          <p:cNvSpPr/>
          <p:nvPr/>
        </p:nvSpPr>
        <p:spPr>
          <a:xfrm>
            <a:off x="387481" y="2754764"/>
            <a:ext cx="671240" cy="10722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2">
                <a:lumMod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n-ea"/>
              </a:rPr>
              <a:t>개념</a:t>
            </a:r>
            <a:endParaRPr lang="en-US" altLang="ko-KR" sz="1200" b="1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n-ea"/>
              </a:rPr>
              <a:t>및</a:t>
            </a:r>
            <a:endParaRPr lang="en-US" altLang="ko-KR" sz="1200" b="1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n-ea"/>
              </a:rPr>
              <a:t>특징</a:t>
            </a:r>
            <a:endParaRPr lang="en-US" altLang="ko-KR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 Box 92">
            <a:extLst>
              <a:ext uri="{FF2B5EF4-FFF2-40B4-BE49-F238E27FC236}">
                <a16:creationId xmlns:a16="http://schemas.microsoft.com/office/drawing/2014/main" id="{0CF01D4C-1FB1-F274-21BC-E981CF748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77" y="5503232"/>
            <a:ext cx="39600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95250" indent="-952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177800" indent="-682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5250" algn="l"/>
              </a:tabLst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[ </a:t>
            </a:r>
            <a:r>
              <a:rPr kumimoji="1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오픈클로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</a:t>
            </a:r>
            <a:r>
              <a:rPr lang="en-US" altLang="ko-KR" sz="1200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OpenClaw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)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5108B2-1253-984C-91C0-3216DFD82BA2}"/>
              </a:ext>
            </a:extLst>
          </p:cNvPr>
          <p:cNvSpPr txBox="1"/>
          <p:nvPr/>
        </p:nvSpPr>
        <p:spPr>
          <a:xfrm>
            <a:off x="387475" y="5749230"/>
            <a:ext cx="3959999" cy="7952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L="171450" marR="0" lvl="0" indent="-1714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200" i="1" kern="0">
                <a:solidFill>
                  <a:prstClr val="black"/>
                </a:solidFill>
                <a:latin typeface="+mn-ea"/>
              </a:rPr>
              <a:t>'</a:t>
            </a:r>
            <a:r>
              <a:rPr lang="ko-KR" altLang="en-US" sz="1200" i="1" kern="0" err="1">
                <a:solidFill>
                  <a:prstClr val="black"/>
                </a:solidFill>
                <a:latin typeface="+mn-ea"/>
              </a:rPr>
              <a:t>몰트북</a:t>
            </a:r>
            <a:r>
              <a:rPr lang="en-US" altLang="ko-KR" sz="1000" i="1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en-US" altLang="ko-KR" sz="1000" i="1" kern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Moltbook</a:t>
            </a:r>
            <a:r>
              <a:rPr lang="en-US" altLang="ko-KR" sz="1000" i="1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r>
              <a:rPr lang="en-US" altLang="ko-KR" sz="1200" i="1" kern="0">
                <a:solidFill>
                  <a:prstClr val="black"/>
                </a:solidFill>
                <a:latin typeface="+mn-ea"/>
              </a:rPr>
              <a:t>' 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생태계를 통해 에이전트들이 인간 개입 없이도 기능</a:t>
            </a:r>
            <a:r>
              <a:rPr lang="en-US" altLang="ko-KR" sz="10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(Skill)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을 서로 공유하고 확장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71450" marR="0" lvl="0" indent="-1714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i="0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모듈식</a:t>
            </a:r>
            <a:r>
              <a:rPr kumimoji="0" lang="ko-KR" altLang="en-US" sz="120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기능의 개발 속도 기하급수적으로 </a:t>
            </a:r>
            <a:r>
              <a:rPr kumimoji="0" lang="ko-KR" altLang="en-US" sz="1200" i="0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빨라짐</a:t>
            </a:r>
            <a:endParaRPr kumimoji="0" lang="ko-KR" altLang="en-US" sz="120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27D247-BFD7-F59E-0DA9-39597987D645}"/>
              </a:ext>
            </a:extLst>
          </p:cNvPr>
          <p:cNvGrpSpPr/>
          <p:nvPr/>
        </p:nvGrpSpPr>
        <p:grpSpPr>
          <a:xfrm>
            <a:off x="4698460" y="3396437"/>
            <a:ext cx="3959999" cy="1494728"/>
            <a:chOff x="437690" y="2442728"/>
            <a:chExt cx="3816000" cy="149472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CF3296B-5308-0965-51F9-40ABF8530B9B}"/>
                </a:ext>
              </a:extLst>
            </p:cNvPr>
            <p:cNvSpPr/>
            <p:nvPr/>
          </p:nvSpPr>
          <p:spPr>
            <a:xfrm>
              <a:off x="509690" y="2515456"/>
              <a:ext cx="3744000" cy="1422000"/>
            </a:xfrm>
            <a:prstGeom prst="rect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C73C33-EF45-6179-938F-E275B70FBAB2}"/>
                </a:ext>
              </a:extLst>
            </p:cNvPr>
            <p:cNvSpPr txBox="1"/>
            <p:nvPr/>
          </p:nvSpPr>
          <p:spPr>
            <a:xfrm>
              <a:off x="437690" y="2442728"/>
              <a:ext cx="3744000" cy="1421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36000" rIns="72000" bIns="36000" rtlCol="0" anchor="t" anchorCtr="0">
              <a:spAutoFit/>
            </a:bodyPr>
            <a:lstStyle/>
            <a:p>
              <a:pPr marL="252000" indent="-252000">
                <a:lnSpc>
                  <a:spcPct val="150000"/>
                </a:lnSpc>
                <a:buFont typeface="+mj-ea"/>
                <a:buAutoNum type="circleNumDbPlain" startAt="2"/>
              </a:pPr>
              <a:r>
                <a:rPr lang="ko-KR" altLang="en-US" sz="1200" b="1" u="sng">
                  <a:latin typeface="+mn-ea"/>
                </a:rPr>
                <a:t>인터페이스의 종말</a:t>
              </a:r>
              <a:endParaRPr lang="en-US" altLang="ko-KR" sz="1200" b="1" u="sng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en-US" altLang="ko-KR" sz="1200" err="1">
                  <a:latin typeface="+mn-ea"/>
                </a:rPr>
                <a:t>OpenClaw</a:t>
              </a:r>
              <a:r>
                <a:rPr lang="ko-KR" altLang="en-US" sz="1200">
                  <a:latin typeface="+mn-ea"/>
                </a:rPr>
                <a:t>는 화려한 대시보드나 메뉴 없이</a:t>
              </a:r>
              <a:r>
                <a:rPr lang="en-US" altLang="ko-KR" sz="1200">
                  <a:latin typeface="+mn-ea"/>
                </a:rPr>
                <a:t>, </a:t>
              </a:r>
              <a:r>
                <a:rPr lang="ko-KR" altLang="en-US" sz="1200">
                  <a:latin typeface="+mn-ea"/>
                </a:rPr>
                <a:t>메신저 채팅 한줄이면 모든 처리가 가능함</a:t>
              </a:r>
              <a:endParaRPr lang="en-US" altLang="ko-KR" sz="1200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사용자를 화면에 붙잡아두는 체류 시간이나 클릭 수 경쟁이 무의미해짐 → 기존 앱의 </a:t>
              </a:r>
              <a:r>
                <a:rPr lang="en-US" altLang="ko-KR" sz="1200">
                  <a:latin typeface="+mn-ea"/>
                </a:rPr>
                <a:t>UI/UX </a:t>
              </a:r>
              <a:r>
                <a:rPr lang="ko-KR" altLang="en-US" sz="1200">
                  <a:latin typeface="+mn-ea"/>
                </a:rPr>
                <a:t>장벽 무너짐</a:t>
              </a:r>
              <a:endParaRPr lang="en-US" altLang="ko-KR" sz="1200" b="1">
                <a:latin typeface="+mn-ea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288DE74-8FBA-A2B8-89BD-6C3EC7D61770}"/>
              </a:ext>
            </a:extLst>
          </p:cNvPr>
          <p:cNvGrpSpPr/>
          <p:nvPr/>
        </p:nvGrpSpPr>
        <p:grpSpPr>
          <a:xfrm>
            <a:off x="4698460" y="1771625"/>
            <a:ext cx="3959999" cy="1494729"/>
            <a:chOff x="437690" y="2442727"/>
            <a:chExt cx="3816000" cy="149473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40A370E-8794-390C-9018-8A852FFDD56C}"/>
                </a:ext>
              </a:extLst>
            </p:cNvPr>
            <p:cNvSpPr/>
            <p:nvPr/>
          </p:nvSpPr>
          <p:spPr>
            <a:xfrm>
              <a:off x="509690" y="2515456"/>
              <a:ext cx="3744000" cy="1422001"/>
            </a:xfrm>
            <a:prstGeom prst="rect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C02B0FF-1D68-962A-24B0-E4220400D1B7}"/>
                </a:ext>
              </a:extLst>
            </p:cNvPr>
            <p:cNvSpPr txBox="1"/>
            <p:nvPr/>
          </p:nvSpPr>
          <p:spPr>
            <a:xfrm>
              <a:off x="437690" y="2442727"/>
              <a:ext cx="3744000" cy="1421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36000" rIns="72000" bIns="36000" rtlCol="0" anchor="t" anchorCtr="0">
              <a:spAutoFit/>
            </a:bodyPr>
            <a:lstStyle/>
            <a:p>
              <a:pPr marL="252000" indent="-2520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200" b="1" u="sng">
                  <a:latin typeface="+mn-ea"/>
                </a:rPr>
                <a:t>가치 사실의 붕괴</a:t>
              </a:r>
              <a:endParaRPr lang="en-US" altLang="ko-KR" sz="1200" u="sng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기존 </a:t>
              </a:r>
              <a:r>
                <a:rPr lang="en-US" altLang="ko-KR" sz="1200">
                  <a:latin typeface="+mn-ea"/>
                </a:rPr>
                <a:t>: AI </a:t>
              </a:r>
              <a:r>
                <a:rPr lang="ko-KR" altLang="en-US" sz="1200">
                  <a:latin typeface="+mn-ea"/>
                </a:rPr>
                <a:t>모델 → 애플리케이션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서비스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r>
                <a:rPr lang="ko-KR" altLang="en-US" sz="1200">
                  <a:latin typeface="+mn-ea"/>
                </a:rPr>
                <a:t> → 사용자</a:t>
              </a:r>
              <a:endParaRPr lang="en-US" altLang="ko-KR" sz="1200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변화 </a:t>
              </a:r>
              <a:r>
                <a:rPr lang="en-US" altLang="ko-KR" sz="1200">
                  <a:latin typeface="+mn-ea"/>
                </a:rPr>
                <a:t>: AI </a:t>
              </a:r>
              <a:r>
                <a:rPr lang="ko-KR" altLang="en-US" sz="1200">
                  <a:latin typeface="+mn-ea"/>
                </a:rPr>
                <a:t>모델 → 사용자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서비스단 </a:t>
              </a:r>
              <a:r>
                <a:rPr lang="ko-KR" altLang="en-US" sz="10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패싱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endPara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en-US" altLang="ko-KR" sz="1200">
                  <a:latin typeface="+mn-ea"/>
                </a:rPr>
                <a:t>AI</a:t>
              </a:r>
              <a:r>
                <a:rPr lang="ko-KR" altLang="en-US" sz="1200">
                  <a:latin typeface="+mn-ea"/>
                </a:rPr>
                <a:t>가 최종 결과물을 직접 제공하기에</a:t>
              </a:r>
              <a:r>
                <a:rPr lang="en-US" altLang="ko-KR" sz="1200">
                  <a:latin typeface="+mn-ea"/>
                </a:rPr>
                <a:t>, </a:t>
              </a:r>
              <a:r>
                <a:rPr lang="ko-KR" altLang="en-US" sz="1200">
                  <a:latin typeface="+mn-ea"/>
                </a:rPr>
                <a:t>중간 단계의 소프트웨어 기업들의 자리가 위태로움</a:t>
              </a:r>
              <a:endParaRPr lang="ko-KR" altLang="en-US" sz="120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89D53B9-4A18-90E6-EC07-CF85038FBFD5}"/>
              </a:ext>
            </a:extLst>
          </p:cNvPr>
          <p:cNvGrpSpPr/>
          <p:nvPr/>
        </p:nvGrpSpPr>
        <p:grpSpPr>
          <a:xfrm>
            <a:off x="4698459" y="5021248"/>
            <a:ext cx="3959999" cy="1217528"/>
            <a:chOff x="437690" y="2442728"/>
            <a:chExt cx="3816000" cy="1217528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8392A30-9B33-77C9-4A6C-C9E170C0339B}"/>
                </a:ext>
              </a:extLst>
            </p:cNvPr>
            <p:cNvSpPr/>
            <p:nvPr/>
          </p:nvSpPr>
          <p:spPr>
            <a:xfrm>
              <a:off x="509690" y="2515456"/>
              <a:ext cx="3744000" cy="1144800"/>
            </a:xfrm>
            <a:prstGeom prst="rect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61C8A29-3672-1F79-D886-3B034C1BDDCF}"/>
                </a:ext>
              </a:extLst>
            </p:cNvPr>
            <p:cNvSpPr txBox="1"/>
            <p:nvPr/>
          </p:nvSpPr>
          <p:spPr>
            <a:xfrm>
              <a:off x="437690" y="2442728"/>
              <a:ext cx="3744000" cy="1144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36000" rIns="72000" bIns="36000" rtlCol="0" anchor="t" anchorCtr="0">
              <a:spAutoFit/>
            </a:bodyPr>
            <a:lstStyle/>
            <a:p>
              <a:pPr marL="252000" indent="-252000">
                <a:lnSpc>
                  <a:spcPct val="150000"/>
                </a:lnSpc>
                <a:buFont typeface="+mj-ea"/>
                <a:buAutoNum type="circleNumDbPlain" startAt="3"/>
              </a:pPr>
              <a:r>
                <a:rPr lang="ko-KR" altLang="en-US" sz="1200" b="1" u="sng">
                  <a:latin typeface="+mn-ea"/>
                </a:rPr>
                <a:t>혁신의 속도 경쟁</a:t>
              </a:r>
              <a:endParaRPr lang="en-US" altLang="ko-KR" sz="1200" b="1" u="sng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기업 </a:t>
              </a:r>
              <a:r>
                <a:rPr lang="en-US" altLang="ko-KR" sz="1200">
                  <a:latin typeface="+mn-ea"/>
                </a:rPr>
                <a:t>R&amp;D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업데이트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r>
                <a:rPr lang="en-US" altLang="ko-KR" sz="1200">
                  <a:latin typeface="+mn-ea"/>
                </a:rPr>
                <a:t> vs. </a:t>
              </a:r>
              <a:r>
                <a:rPr lang="ko-KR" altLang="en-US" sz="1200">
                  <a:latin typeface="+mn-ea"/>
                </a:rPr>
                <a:t>오픈소스 생태계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실시간 공유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endPara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기업의 </a:t>
              </a:r>
              <a:r>
                <a:rPr lang="en-US" altLang="ko-KR" sz="1200">
                  <a:latin typeface="+mn-ea"/>
                </a:rPr>
                <a:t>R&amp;D </a:t>
              </a:r>
              <a:r>
                <a:rPr lang="ko-KR" altLang="en-US" sz="1200">
                  <a:latin typeface="+mn-ea"/>
                </a:rPr>
                <a:t>속도가 </a:t>
              </a:r>
              <a:r>
                <a:rPr lang="ko-KR" altLang="en-US" sz="1200" err="1">
                  <a:latin typeface="+mn-ea"/>
                </a:rPr>
                <a:t>몰트북</a:t>
              </a:r>
              <a:r>
                <a:rPr lang="ko-KR" altLang="en-US" sz="1200">
                  <a:latin typeface="+mn-ea"/>
                </a:rPr>
                <a:t> 커뮤니티의 집단 지성 혁신 속도를 따라잡지 못하는 상황 초래</a:t>
              </a:r>
              <a:endParaRPr lang="en-US" altLang="ko-KR" sz="1200" b="1">
                <a:latin typeface="+mn-ea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51585E7-E5D6-29DA-A078-F62B6EBB46DA}"/>
              </a:ext>
            </a:extLst>
          </p:cNvPr>
          <p:cNvSpPr txBox="1"/>
          <p:nvPr/>
        </p:nvSpPr>
        <p:spPr>
          <a:xfrm>
            <a:off x="4698459" y="6303227"/>
            <a:ext cx="3959999" cy="241285"/>
          </a:xfrm>
          <a:prstGeom prst="rect">
            <a:avLst/>
          </a:prstGeom>
          <a:gradFill>
            <a:gsLst>
              <a:gs pos="3000">
                <a:schemeClr val="tx2">
                  <a:alpha val="85000"/>
                  <a:lumMod val="12000"/>
                  <a:lumOff val="88000"/>
                </a:schemeClr>
              </a:gs>
              <a:gs pos="9600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tabLst/>
              <a:defRPr/>
            </a:pP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→ 도구에서 주체로</a:t>
            </a:r>
            <a:r>
              <a:rPr lang="en-US" altLang="ko-KR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, </a:t>
            </a: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소프트웨어 시장의 문법이 바뀔 것</a:t>
            </a:r>
            <a:endParaRPr kumimoji="0" lang="ko-KR" altLang="en-US" sz="1200" b="1" i="1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glow rad="63500">
                  <a:schemeClr val="bg1"/>
                </a:glow>
              </a:effectLst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971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CC17-3E40-EBA5-91E9-F69AD582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521087D9-EAE4-9933-CB6F-2F4EFB18A8E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ko-KR" sz="1800" b="1">
                <a:latin typeface="맑은 고딕"/>
                <a:ea typeface="맑은 고딕" pitchFamily="50" charset="-127"/>
              </a:rPr>
              <a:t>Appendix. </a:t>
            </a:r>
            <a:r>
              <a:rPr kumimoji="1" lang="ko-KR" altLang="en-US" sz="1800" b="1">
                <a:latin typeface="맑은 고딕"/>
                <a:ea typeface="맑은 고딕" pitchFamily="50" charset="-127"/>
              </a:rPr>
              <a:t>스스로 실행하는 </a:t>
            </a:r>
            <a:r>
              <a:rPr kumimoji="1" lang="en-US" altLang="ko-KR" sz="1800" b="1">
                <a:latin typeface="맑은 고딕"/>
                <a:ea typeface="맑은 고딕" pitchFamily="50" charset="-127"/>
              </a:rPr>
              <a:t>AI</a:t>
            </a:r>
            <a:endParaRPr kumimoji="1" lang="ko-KR" altLang="en-US" sz="1800" b="1">
              <a:latin typeface="맑은 고딕"/>
              <a:ea typeface="맑은 고딕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599D715-A1C4-D3B0-E0FB-A8CABC7059F7}"/>
              </a:ext>
            </a:extLst>
          </p:cNvPr>
          <p:cNvGrpSpPr/>
          <p:nvPr/>
        </p:nvGrpSpPr>
        <p:grpSpPr>
          <a:xfrm>
            <a:off x="349169" y="1151061"/>
            <a:ext cx="8445663" cy="5141912"/>
            <a:chOff x="309495" y="776985"/>
            <a:chExt cx="8445663" cy="5141912"/>
          </a:xfrm>
        </p:grpSpPr>
        <p:pic>
          <p:nvPicPr>
            <p:cNvPr id="6" name="그림 5" descr="텍스트, 전자제품, 스크린샷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26A64CF-E9D9-C122-151E-F0A9AC981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495" y="776985"/>
              <a:ext cx="4494058" cy="5141912"/>
            </a:xfrm>
            <a:prstGeom prst="rect">
              <a:avLst/>
            </a:prstGeom>
          </p:spPr>
        </p:pic>
        <p:pic>
          <p:nvPicPr>
            <p:cNvPr id="10" name="그림 9" descr="텍스트, 스크린샷, 소프트웨어, 웹 페이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F48CD4F-68BA-825B-CE0E-CC34742B1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3553" y="776985"/>
              <a:ext cx="3951605" cy="5141912"/>
            </a:xfrm>
            <a:prstGeom prst="rect">
              <a:avLst/>
            </a:prstGeom>
          </p:spPr>
        </p:pic>
      </p:grpSp>
      <p:sp>
        <p:nvSpPr>
          <p:cNvPr id="17" name="Text Box 92">
            <a:extLst>
              <a:ext uri="{FF2B5EF4-FFF2-40B4-BE49-F238E27FC236}">
                <a16:creationId xmlns:a16="http://schemas.microsoft.com/office/drawing/2014/main" id="{4F486505-45B1-2369-DD26-E85B46C5D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68" y="833837"/>
            <a:ext cx="536583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95250" indent="-952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177800" indent="-682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5250" algn="l"/>
              </a:tabLst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[ PC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에 대한 제어권을 가지고 스스로 활동하는 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AI ]</a:t>
            </a:r>
          </a:p>
        </p:txBody>
      </p:sp>
    </p:spTree>
    <p:extLst>
      <p:ext uri="{BB962C8B-B14F-4D97-AF65-F5344CB8AC3E}">
        <p14:creationId xmlns:p14="http://schemas.microsoft.com/office/powerpoint/2010/main" val="288612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80CC-8156-9FB9-6881-13299AC4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2F9224FD-6151-953B-536D-223B1072760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ko-KR" sz="1800" b="1">
                <a:latin typeface="맑은 고딕"/>
                <a:ea typeface="맑은 고딕" pitchFamily="50" charset="-127"/>
              </a:rPr>
              <a:t>Appendix. </a:t>
            </a:r>
            <a:r>
              <a:rPr kumimoji="1" lang="ko-KR" altLang="en-US" sz="1800" b="1">
                <a:latin typeface="맑은 고딕"/>
                <a:ea typeface="맑은 고딕" pitchFamily="50" charset="-127"/>
              </a:rPr>
              <a:t>스스로 실행하는 </a:t>
            </a:r>
            <a:r>
              <a:rPr kumimoji="1" lang="en-US" altLang="ko-KR" sz="1800" b="1">
                <a:latin typeface="맑은 고딕"/>
                <a:ea typeface="맑은 고딕" pitchFamily="50" charset="-127"/>
              </a:rPr>
              <a:t>AI</a:t>
            </a:r>
            <a:endParaRPr kumimoji="1" lang="ko-KR" altLang="en-US" sz="1800" b="1">
              <a:latin typeface="맑은 고딕"/>
              <a:ea typeface="맑은 고딕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A7D1A23-B200-A8B8-CD1E-35396D6984AE}"/>
              </a:ext>
            </a:extLst>
          </p:cNvPr>
          <p:cNvGrpSpPr/>
          <p:nvPr/>
        </p:nvGrpSpPr>
        <p:grpSpPr>
          <a:xfrm>
            <a:off x="156607" y="1589806"/>
            <a:ext cx="8830787" cy="3834246"/>
            <a:chOff x="219624" y="1839190"/>
            <a:chExt cx="8830787" cy="3834246"/>
          </a:xfrm>
        </p:grpSpPr>
        <p:pic>
          <p:nvPicPr>
            <p:cNvPr id="4" name="그림 3" descr="텍스트, 스크린샷, 소프트웨어, 멀티미디어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C4D933A-2FEA-2E98-EAFC-B61611ADD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624" y="1839190"/>
              <a:ext cx="5006175" cy="3834246"/>
            </a:xfrm>
            <a:prstGeom prst="rect">
              <a:avLst/>
            </a:prstGeom>
          </p:spPr>
        </p:pic>
        <p:pic>
          <p:nvPicPr>
            <p:cNvPr id="7" name="그림 6" descr="텍스트, 스크린샷, 소프트웨어, 웹사이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4149BB9-0552-76C0-60C6-61E0950FA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25799" y="1839190"/>
              <a:ext cx="3824612" cy="3834246"/>
            </a:xfrm>
            <a:prstGeom prst="rect">
              <a:avLst/>
            </a:prstGeom>
          </p:spPr>
        </p:pic>
      </p:grpSp>
      <p:sp>
        <p:nvSpPr>
          <p:cNvPr id="9" name="Text Box 92">
            <a:extLst>
              <a:ext uri="{FF2B5EF4-FFF2-40B4-BE49-F238E27FC236}">
                <a16:creationId xmlns:a16="http://schemas.microsoft.com/office/drawing/2014/main" id="{2190A413-F06E-5A37-288D-5ABAD7A91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07" y="1218504"/>
            <a:ext cx="536583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95250" indent="-952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177800" indent="-682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5250" algn="l"/>
              </a:tabLst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[ </a:t>
            </a:r>
            <a:r>
              <a:rPr lang="en-US" altLang="ko-KR" sz="1400" b="1">
                <a:solidFill>
                  <a:prstClr val="black"/>
                </a:solidFill>
                <a:latin typeface="+mn-ea"/>
                <a:ea typeface="+mn-ea"/>
              </a:rPr>
              <a:t>AI </a:t>
            </a:r>
            <a:r>
              <a:rPr lang="ko-KR" altLang="en-US" sz="1400" b="1">
                <a:solidFill>
                  <a:prstClr val="black"/>
                </a:solidFill>
                <a:latin typeface="+mn-ea"/>
                <a:ea typeface="+mn-ea"/>
              </a:rPr>
              <a:t>에이전트 간 자유롭게 소통하는 </a:t>
            </a:r>
            <a:r>
              <a:rPr lang="en-US" altLang="ko-KR" sz="1400" b="1">
                <a:solidFill>
                  <a:prstClr val="black"/>
                </a:solidFill>
                <a:latin typeface="+mn-ea"/>
                <a:ea typeface="+mn-ea"/>
              </a:rPr>
              <a:t>SNS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200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몰트북</a:t>
            </a:r>
            <a:r>
              <a:rPr lang="en-US" altLang="ko-KR"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)</a:t>
            </a:r>
            <a:r>
              <a:rPr lang="en-US" altLang="ko-KR" sz="1400" b="1">
                <a:solidFill>
                  <a:prstClr val="black"/>
                </a:solidFill>
                <a:latin typeface="+mn-ea"/>
                <a:ea typeface="+mn-ea"/>
              </a:rPr>
              <a:t> 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423677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E1BD-F658-303D-9A96-156DC3C5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9">
            <a:extLst>
              <a:ext uri="{FF2B5EF4-FFF2-40B4-BE49-F238E27FC236}">
                <a16:creationId xmlns:a16="http://schemas.microsoft.com/office/drawing/2014/main" id="{F96A2C7C-3950-35AB-2A16-A4ED670B5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0792"/>
            <a:ext cx="9144000" cy="6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44000" marR="0" lvl="0" algn="l" defTabSz="914400" rtl="0" eaLnBrk="1" fontAlgn="auto" latinLnBrk="1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도구에서 주체로의 전환은 곧 사용자 수 기반 성장 공식의 종말을 암시하며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이에 따른 소프트웨어 산업의 지속 가능성에 대한 의구심이 확산되며 역사적인 </a:t>
            </a:r>
            <a:r>
              <a:rPr kumimoji="1" lang="ko-KR" altLang="en-US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매도세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en-US" altLang="ko-KR" sz="1400" b="1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SaaSpocalypse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가 발생했습니다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E13C1F6F-756B-0BB5-42A5-E29B2ACFB72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ko-KR" sz="1800" b="1">
                <a:latin typeface="맑은 고딕"/>
                <a:ea typeface="맑은 고딕" pitchFamily="50" charset="-127"/>
              </a:rPr>
              <a:t>2. </a:t>
            </a:r>
            <a:r>
              <a:rPr kumimoji="1" lang="ko-KR" altLang="en-US" sz="1800" b="1">
                <a:latin typeface="맑은 고딕"/>
                <a:ea typeface="맑은 고딕" pitchFamily="50" charset="-127"/>
              </a:rPr>
              <a:t>시장 반응</a:t>
            </a:r>
          </a:p>
        </p:txBody>
      </p:sp>
      <p:sp>
        <p:nvSpPr>
          <p:cNvPr id="2" name="Rectangle 168">
            <a:extLst>
              <a:ext uri="{FF2B5EF4-FFF2-40B4-BE49-F238E27FC236}">
                <a16:creationId xmlns:a16="http://schemas.microsoft.com/office/drawing/2014/main" id="{9847BB34-F678-D5F7-6E69-50944C02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461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>
                <a:latin typeface="+mn-ea"/>
              </a:rPr>
              <a:t>급락 이유 분석</a:t>
            </a:r>
            <a:endParaRPr lang="en-US" altLang="ko-KR" sz="1600" b="1"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4C12FC7-06DD-F2BB-39C7-66E7ACF04F4D}"/>
              </a:ext>
            </a:extLst>
          </p:cNvPr>
          <p:cNvCxnSpPr>
            <a:cxnSpLocks/>
          </p:cNvCxnSpPr>
          <p:nvPr/>
        </p:nvCxnSpPr>
        <p:spPr bwMode="auto">
          <a:xfrm>
            <a:off x="4698461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168">
            <a:extLst>
              <a:ext uri="{FF2B5EF4-FFF2-40B4-BE49-F238E27FC236}">
                <a16:creationId xmlns:a16="http://schemas.microsoft.com/office/drawing/2014/main" id="{3CBBD512-EEC8-743C-65ED-C9FD7BC3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480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>
                <a:solidFill>
                  <a:prstClr val="black"/>
                </a:solidFill>
                <a:latin typeface="+mn-ea"/>
              </a:rPr>
              <a:t>시장 붕괴 현황</a:t>
            </a:r>
            <a:endParaRPr lang="en-US" altLang="ko-KR" sz="1600" b="1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7D2276-F9B0-B310-C7BC-AB8D702E279C}"/>
              </a:ext>
            </a:extLst>
          </p:cNvPr>
          <p:cNvCxnSpPr>
            <a:cxnSpLocks/>
          </p:cNvCxnSpPr>
          <p:nvPr/>
        </p:nvCxnSpPr>
        <p:spPr bwMode="auto">
          <a:xfrm>
            <a:off x="387480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D27BBA0-3D34-4F2B-E0A3-0691D8F8F822}"/>
              </a:ext>
            </a:extLst>
          </p:cNvPr>
          <p:cNvGrpSpPr/>
          <p:nvPr/>
        </p:nvGrpSpPr>
        <p:grpSpPr>
          <a:xfrm>
            <a:off x="4698460" y="3567922"/>
            <a:ext cx="3959999" cy="2049128"/>
            <a:chOff x="437690" y="2442728"/>
            <a:chExt cx="3816000" cy="204912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B79CD5-7668-D7FF-7F02-41C7B9653226}"/>
                </a:ext>
              </a:extLst>
            </p:cNvPr>
            <p:cNvSpPr/>
            <p:nvPr/>
          </p:nvSpPr>
          <p:spPr>
            <a:xfrm>
              <a:off x="509690" y="2515456"/>
              <a:ext cx="3744000" cy="1976400"/>
            </a:xfrm>
            <a:prstGeom prst="rect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AE4ACD-D65D-E05B-8EE3-023553A29B71}"/>
                </a:ext>
              </a:extLst>
            </p:cNvPr>
            <p:cNvSpPr txBox="1"/>
            <p:nvPr/>
          </p:nvSpPr>
          <p:spPr>
            <a:xfrm>
              <a:off x="437690" y="2442728"/>
              <a:ext cx="3744000" cy="19759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36000" rIns="72000" bIns="36000" rtlCol="0" anchor="t" anchorCtr="0">
              <a:spAutoFit/>
            </a:bodyPr>
            <a:lstStyle/>
            <a:p>
              <a:pPr marL="252000" indent="-252000">
                <a:lnSpc>
                  <a:spcPct val="150000"/>
                </a:lnSpc>
                <a:buFont typeface="+mj-ea"/>
                <a:buAutoNum type="circleNumDbPlain" startAt="2"/>
              </a:pPr>
              <a:r>
                <a:rPr lang="ko-KR" altLang="en-US" sz="1200" b="1" u="sng">
                  <a:latin typeface="+mn-ea"/>
                </a:rPr>
                <a:t>최종 가치의 재평가</a:t>
              </a:r>
              <a:endParaRPr lang="en-US" altLang="ko-KR" sz="1200" b="1" u="sng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en-US" altLang="ko-KR" sz="1200">
                  <a:latin typeface="+mn-ea"/>
                </a:rPr>
                <a:t>AI</a:t>
              </a:r>
              <a:r>
                <a:rPr lang="ko-KR" altLang="en-US" sz="1200">
                  <a:latin typeface="+mn-ea"/>
                </a:rPr>
                <a:t>가 워크플로우 직접 장악하면</a:t>
              </a:r>
              <a:r>
                <a:rPr lang="en-US" altLang="ko-KR" sz="1200">
                  <a:latin typeface="+mn-ea"/>
                </a:rPr>
                <a:t>, </a:t>
              </a:r>
              <a:r>
                <a:rPr lang="ko-KR" altLang="en-US" sz="1200">
                  <a:latin typeface="+mn-ea"/>
                </a:rPr>
                <a:t>기존 소프트웨어는 단순한 데이터 저장소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(DB)</a:t>
              </a:r>
              <a:r>
                <a:rPr lang="en-US" altLang="ko-KR" sz="1200">
                  <a:latin typeface="+mn-ea"/>
                </a:rPr>
                <a:t> </a:t>
              </a:r>
              <a:r>
                <a:rPr lang="ko-KR" altLang="en-US" sz="1200">
                  <a:latin typeface="+mn-ea"/>
                </a:rPr>
                <a:t>가치로 떨어질 위험 존재 </a:t>
              </a:r>
              <a:endParaRPr lang="en-US" altLang="ko-KR" sz="1200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 err="1">
                  <a:latin typeface="+mn-ea"/>
                </a:rPr>
                <a:t>오픈클로</a:t>
              </a:r>
              <a:r>
                <a:rPr lang="ko-KR" altLang="en-US" sz="1200">
                  <a:latin typeface="+mn-ea"/>
                </a:rPr>
                <a:t> 같은 오픈소스 대안과 </a:t>
              </a:r>
              <a:r>
                <a:rPr lang="ko-KR" altLang="en-US" sz="1200" err="1">
                  <a:latin typeface="+mn-ea"/>
                </a:rPr>
                <a:t>바이브</a:t>
              </a:r>
              <a:r>
                <a:rPr lang="ko-KR" altLang="en-US" sz="1200">
                  <a:latin typeface="+mn-ea"/>
                </a:rPr>
                <a:t> 코딩 등장은 소프트웨어 공급의 무한 경쟁을 예고</a:t>
              </a:r>
              <a:endParaRPr lang="en-US" altLang="ko-KR" sz="1200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highlight>
                    <a:srgbClr val="FFFF00"/>
                  </a:highlight>
                  <a:latin typeface="+mn-ea"/>
                </a:rPr>
                <a:t>매년 구독료를 인상하던 기존 </a:t>
              </a:r>
              <a:r>
                <a:rPr lang="en-US" altLang="ko-KR" sz="1200">
                  <a:highlight>
                    <a:srgbClr val="FFFF00"/>
                  </a:highlight>
                  <a:latin typeface="+mn-ea"/>
                </a:rPr>
                <a:t>SaaS </a:t>
              </a:r>
              <a:r>
                <a:rPr lang="ko-KR" altLang="en-US" sz="1200">
                  <a:highlight>
                    <a:srgbClr val="FFFF00"/>
                  </a:highlight>
                  <a:latin typeface="+mn-ea"/>
                </a:rPr>
                <a:t>기업들의 가격 방어 논리가 붕괴될 것</a:t>
              </a:r>
              <a:r>
                <a:rPr lang="ko-KR" altLang="en-US" sz="1200">
                  <a:latin typeface="+mn-ea"/>
                </a:rPr>
                <a:t>이라는 공포 확산</a:t>
              </a:r>
              <a:endParaRPr lang="en-US" altLang="ko-KR" sz="1200" b="1">
                <a:latin typeface="+mn-ea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7E452ED-7A67-6B48-30FB-A22062F8540C}"/>
              </a:ext>
            </a:extLst>
          </p:cNvPr>
          <p:cNvGrpSpPr/>
          <p:nvPr/>
        </p:nvGrpSpPr>
        <p:grpSpPr>
          <a:xfrm>
            <a:off x="4698460" y="1771625"/>
            <a:ext cx="3959999" cy="1771929"/>
            <a:chOff x="437690" y="2442727"/>
            <a:chExt cx="3816000" cy="177193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9DBD8E41-B78F-6029-EB68-D1548FA2C678}"/>
                </a:ext>
              </a:extLst>
            </p:cNvPr>
            <p:cNvSpPr/>
            <p:nvPr/>
          </p:nvSpPr>
          <p:spPr>
            <a:xfrm>
              <a:off x="509690" y="2515456"/>
              <a:ext cx="3744000" cy="1699201"/>
            </a:xfrm>
            <a:prstGeom prst="rect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31EA29-5F1C-EFFF-3CFA-A1C8D9C7734C}"/>
                </a:ext>
              </a:extLst>
            </p:cNvPr>
            <p:cNvSpPr txBox="1"/>
            <p:nvPr/>
          </p:nvSpPr>
          <p:spPr>
            <a:xfrm>
              <a:off x="437690" y="2442727"/>
              <a:ext cx="3744000" cy="1698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72000" tIns="36000" rIns="72000" bIns="36000" rtlCol="0" anchor="t" anchorCtr="0">
              <a:spAutoFit/>
            </a:bodyPr>
            <a:lstStyle/>
            <a:p>
              <a:pPr marL="252000" indent="-2520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200" b="1" u="sng">
                  <a:latin typeface="+mn-ea"/>
                </a:rPr>
                <a:t>수익과 고용의 </a:t>
              </a:r>
              <a:r>
                <a:rPr lang="ko-KR" altLang="en-US" sz="1200" b="1" u="sng" err="1">
                  <a:latin typeface="+mn-ea"/>
                </a:rPr>
                <a:t>디커플링</a:t>
              </a:r>
              <a:endParaRPr lang="en-US" altLang="ko-KR" sz="1200" u="sng"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지난 </a:t>
              </a:r>
              <a:r>
                <a:rPr lang="en-US" altLang="ko-KR" sz="1200">
                  <a:latin typeface="+mn-ea"/>
                </a:rPr>
                <a:t>10</a:t>
              </a:r>
              <a:r>
                <a:rPr lang="ko-KR" altLang="en-US" sz="1200">
                  <a:latin typeface="+mn-ea"/>
                </a:rPr>
                <a:t>년간 </a:t>
              </a:r>
              <a:r>
                <a:rPr lang="en-US" altLang="ko-KR" sz="1200">
                  <a:latin typeface="+mn-ea"/>
                </a:rPr>
                <a:t>SaaS</a:t>
              </a:r>
              <a:r>
                <a:rPr lang="ko-KR" altLang="en-US" sz="1200">
                  <a:latin typeface="+mn-ea"/>
                </a:rPr>
                <a:t>는 </a:t>
              </a:r>
              <a:r>
                <a:rPr lang="en-US" altLang="ko-KR" sz="1200">
                  <a:latin typeface="+mn-ea"/>
                </a:rPr>
                <a:t>“</a:t>
              </a:r>
              <a:r>
                <a:rPr lang="ko-KR" altLang="en-US" sz="1200" i="1" u="sng">
                  <a:latin typeface="+mn-ea"/>
                </a:rPr>
                <a:t>고객사가 직원을 더 채용한다</a:t>
              </a:r>
              <a:r>
                <a:rPr lang="en-US" altLang="ko-KR" sz="1200" i="1" u="sng">
                  <a:latin typeface="+mn-ea"/>
                </a:rPr>
                <a:t>=SW</a:t>
              </a:r>
              <a:r>
                <a:rPr lang="ko-KR" altLang="en-US" sz="1200" i="1" u="sng">
                  <a:latin typeface="+mn-ea"/>
                </a:rPr>
                <a:t> 매출이 늘어난다</a:t>
              </a:r>
              <a:r>
                <a:rPr lang="en-US" altLang="ko-KR" sz="1200" i="1" u="sng">
                  <a:latin typeface="+mn-ea"/>
                </a:rPr>
                <a:t>”</a:t>
              </a:r>
              <a:r>
                <a:rPr lang="ko-KR" altLang="en-US" sz="1200">
                  <a:latin typeface="+mn-ea"/>
                </a:rPr>
                <a:t>는 공식에 기반하여 성장</a:t>
              </a:r>
              <a:endPara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marL="216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200">
                  <a:latin typeface="+mn-ea"/>
                </a:rPr>
                <a:t>그러나 에이전트 </a:t>
              </a:r>
              <a:r>
                <a:rPr lang="en-US" altLang="ko-KR" sz="1200">
                  <a:latin typeface="+mn-ea"/>
                </a:rPr>
                <a:t>AI</a:t>
              </a:r>
              <a:r>
                <a:rPr lang="ko-KR" altLang="en-US" sz="1200">
                  <a:latin typeface="+mn-ea"/>
                </a:rPr>
                <a:t>는 직원을 줄여도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또는 줄여야만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r>
                <a:rPr lang="ko-KR" altLang="en-US" sz="1200">
                  <a:latin typeface="+mn-ea"/>
                </a:rPr>
                <a:t> 성과가 나는 구조를 통해 </a:t>
              </a:r>
              <a:r>
                <a:rPr lang="ko-KR" altLang="en-US" sz="1200">
                  <a:highlight>
                    <a:srgbClr val="FFFF00"/>
                  </a:highlight>
                  <a:latin typeface="+mn-ea"/>
                </a:rPr>
                <a:t>고객이 성공할수록 기업의 매출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00"/>
                  </a:highlight>
                  <a:latin typeface="+mn-ea"/>
                </a:rPr>
                <a:t>(</a:t>
              </a:r>
              <a:r>
                <a:rPr lang="ko-KR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00"/>
                  </a:highlight>
                  <a:latin typeface="+mn-ea"/>
                </a:rPr>
                <a:t>계정 수</a:t>
              </a:r>
              <a:r>
                <a:rPr lang="en-US" altLang="ko-KR" sz="100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00"/>
                  </a:highlight>
                  <a:latin typeface="+mn-ea"/>
                </a:rPr>
                <a:t>)</a:t>
              </a:r>
              <a:r>
                <a:rPr lang="ko-KR" altLang="en-US" sz="1200">
                  <a:highlight>
                    <a:srgbClr val="FFFF00"/>
                  </a:highlight>
                  <a:latin typeface="+mn-ea"/>
                </a:rPr>
                <a:t>이 줄어드는 성장의 역설</a:t>
              </a:r>
              <a:r>
                <a:rPr lang="ko-KR" altLang="en-US" sz="1200">
                  <a:latin typeface="+mn-ea"/>
                </a:rPr>
                <a:t> 발생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3223AC7B-F942-9EAC-BD60-9D117411F9BC}"/>
              </a:ext>
            </a:extLst>
          </p:cNvPr>
          <p:cNvSpPr txBox="1"/>
          <p:nvPr/>
        </p:nvSpPr>
        <p:spPr>
          <a:xfrm>
            <a:off x="4698460" y="5641417"/>
            <a:ext cx="3959999" cy="518283"/>
          </a:xfrm>
          <a:prstGeom prst="rect">
            <a:avLst/>
          </a:prstGeom>
          <a:gradFill>
            <a:gsLst>
              <a:gs pos="3000">
                <a:schemeClr val="tx2">
                  <a:alpha val="85000"/>
                  <a:lumMod val="12000"/>
                  <a:lumOff val="88000"/>
                </a:schemeClr>
              </a:gs>
              <a:gs pos="9600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tabLst/>
              <a:defRPr/>
            </a:pP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→ 인간의 노동에 연동되어 있던 소프트웨어 수익 모델이 </a:t>
            </a:r>
            <a:r>
              <a:rPr lang="en-US" altLang="ko-KR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AI </a:t>
            </a: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효율성과 정면으로 충돌하며</a:t>
            </a:r>
            <a:r>
              <a:rPr lang="en-US" altLang="ko-KR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, </a:t>
            </a:r>
            <a:r>
              <a:rPr lang="ko-KR" altLang="en-US" sz="1200" b="1" i="1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지속 가능성을 상실함</a:t>
            </a:r>
            <a:endParaRPr kumimoji="0" lang="ko-KR" altLang="en-US" sz="1200" b="1" i="1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glow rad="63500">
                  <a:schemeClr val="bg1"/>
                </a:glow>
              </a:effectLst>
              <a:uLnTx/>
              <a:uFillTx/>
              <a:latin typeface="+mn-ea"/>
              <a:cs typeface="+mn-cs"/>
            </a:endParaRPr>
          </a:p>
        </p:txBody>
      </p:sp>
      <p:pic>
        <p:nvPicPr>
          <p:cNvPr id="5" name="Picture 2" descr="美 증시에 클로드 코워크 충격…AI 혁신에 파괴되는 기존 산업[오미주] - 머니투데이">
            <a:extLst>
              <a:ext uri="{FF2B5EF4-FFF2-40B4-BE49-F238E27FC236}">
                <a16:creationId xmlns:a16="http://schemas.microsoft.com/office/drawing/2014/main" id="{F074D15C-383C-5E87-481F-3F4B494FF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80" y="1773592"/>
            <a:ext cx="3960000" cy="172790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949251-A01E-E704-B05A-C00D684D5113}"/>
              </a:ext>
            </a:extLst>
          </p:cNvPr>
          <p:cNvGrpSpPr/>
          <p:nvPr/>
        </p:nvGrpSpPr>
        <p:grpSpPr>
          <a:xfrm>
            <a:off x="387480" y="3536417"/>
            <a:ext cx="3960000" cy="2623283"/>
            <a:chOff x="387480" y="3921229"/>
            <a:chExt cx="3960000" cy="262328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7E1E1B-6E41-5A5E-A69D-D0588EBC42AE}"/>
                </a:ext>
              </a:extLst>
            </p:cNvPr>
            <p:cNvSpPr txBox="1"/>
            <p:nvPr/>
          </p:nvSpPr>
          <p:spPr>
            <a:xfrm>
              <a:off x="387480" y="3921229"/>
              <a:ext cx="3960000" cy="5182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marL="171450" marR="0" lvl="0" indent="-171450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altLang="ko-KR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Anthropic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社</a:t>
              </a:r>
              <a:r>
                <a:rPr kumimoji="0" lang="en-US" altLang="ko-KR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, 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법률 </a:t>
              </a:r>
              <a:r>
                <a:rPr lang="ko-KR" altLang="en-US" sz="1200" b="1" u="sng" kern="0" err="1">
                  <a:solidFill>
                    <a:prstClr val="black"/>
                  </a:solidFill>
                  <a:latin typeface="+mn-ea"/>
                </a:rPr>
                <a:t>플러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그인 출시 직후</a:t>
              </a:r>
              <a:r>
                <a:rPr kumimoji="0" lang="en-US" altLang="ko-KR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, 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소프트웨어 섹터에서만 약 </a:t>
              </a:r>
              <a:r>
                <a:rPr kumimoji="0" lang="en-US" altLang="ko-KR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2,850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억</a:t>
              </a:r>
              <a:r>
                <a:rPr kumimoji="0" lang="en-US" altLang="ko-KR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달러</a:t>
              </a:r>
              <a:r>
                <a:rPr kumimoji="0" lang="en-US" altLang="ko-KR" sz="1000" b="1" i="0" u="sng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1000" b="1" i="0" u="sng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약 </a:t>
              </a:r>
              <a:r>
                <a:rPr kumimoji="0" lang="en-US" altLang="ko-KR" sz="1000" b="1" i="0" u="sng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380</a:t>
              </a:r>
              <a:r>
                <a:rPr kumimoji="0" lang="ko-KR" altLang="en-US" sz="1000" b="1" i="0" u="sng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조원</a:t>
              </a:r>
              <a:r>
                <a:rPr lang="en-US" altLang="ko-KR" sz="1000" b="1" u="sng" ker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  <a:r>
                <a:rPr kumimoji="0" lang="ko-KR" altLang="en-US" sz="1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 시가총액 증발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8460081-8FF5-806D-56C1-4450874184C8}"/>
                </a:ext>
              </a:extLst>
            </p:cNvPr>
            <p:cNvGrpSpPr/>
            <p:nvPr/>
          </p:nvGrpSpPr>
          <p:grpSpPr>
            <a:xfrm>
              <a:off x="387480" y="4224960"/>
              <a:ext cx="3959999" cy="1078615"/>
              <a:chOff x="387480" y="4254054"/>
              <a:chExt cx="3959999" cy="1078615"/>
            </a:xfrm>
          </p:grpSpPr>
          <p:pic>
            <p:nvPicPr>
              <p:cNvPr id="9" name="Picture 4" descr="JPMorgan vector logo - J.P. Morgan logo vector free download">
                <a:extLst>
                  <a:ext uri="{FF2B5EF4-FFF2-40B4-BE49-F238E27FC236}">
                    <a16:creationId xmlns:a16="http://schemas.microsoft.com/office/drawing/2014/main" id="{FC4F6430-FB44-05D8-4487-7DD3764408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7480" y="4254054"/>
                <a:ext cx="986548" cy="9865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32B153-2F34-35AC-28BD-E50C56F1C66F}"/>
                  </a:ext>
                </a:extLst>
              </p:cNvPr>
              <p:cNvSpPr txBox="1"/>
              <p:nvPr/>
            </p:nvSpPr>
            <p:spPr>
              <a:xfrm>
                <a:off x="387480" y="4854589"/>
                <a:ext cx="3959999" cy="478080"/>
              </a:xfrm>
              <a:prstGeom prst="rect">
                <a:avLst/>
              </a:prstGeom>
              <a:gradFill>
                <a:gsLst>
                  <a:gs pos="3000">
                    <a:schemeClr val="tx2">
                      <a:alpha val="85000"/>
                      <a:lumMod val="12000"/>
                      <a:lumOff val="88000"/>
                    </a:schemeClr>
                  </a:gs>
                  <a:gs pos="9600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R="0" lvl="0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Tx/>
                  <a:tabLst/>
                  <a:defRPr/>
                </a:pPr>
                <a:r>
                  <a:rPr lang="ko-KR" altLang="en-US" sz="1200" i="1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→ </a:t>
                </a:r>
                <a:r>
                  <a:rPr lang="en-US" altLang="ko-KR" sz="1200" i="1" u="sng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“</a:t>
                </a:r>
                <a:r>
                  <a:rPr lang="ko-KR" altLang="en-US" sz="1200" i="1" u="sng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숨을 곳이 없다</a:t>
                </a:r>
                <a:r>
                  <a:rPr lang="en-US" altLang="ko-KR" sz="1200" i="1" u="sng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.</a:t>
                </a:r>
                <a:r>
                  <a:rPr lang="en-US" altLang="ko-KR" sz="1000" i="1" u="sng" kern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(Nowhere to hide)</a:t>
                </a:r>
                <a:r>
                  <a:rPr lang="en-US" altLang="ko-KR" sz="1200" i="1" u="sng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”</a:t>
                </a:r>
                <a:br>
                  <a:rPr lang="en-US" altLang="ko-KR" sz="1200" i="1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</a:br>
                <a:r>
                  <a:rPr lang="ko-KR" altLang="en-US" sz="1000" i="1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기존 안전자산으로 여겨지던 우량 기업까지 무차별적 </a:t>
                </a:r>
                <a:r>
                  <a:rPr lang="ko-KR" altLang="en-US" sz="1000" i="1" kern="0" err="1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매도세</a:t>
                </a:r>
                <a:r>
                  <a:rPr lang="ko-KR" altLang="en-US" sz="1000" i="1" kern="0">
                    <a:solidFill>
                      <a:prstClr val="black"/>
                    </a:solidFill>
                    <a:effectLst>
                      <a:glow rad="63500">
                        <a:schemeClr val="bg1"/>
                      </a:glow>
                    </a:effectLst>
                    <a:latin typeface="+mn-ea"/>
                  </a:rPr>
                  <a:t> 직면</a:t>
                </a:r>
                <a:endParaRPr kumimoji="0" lang="ko-KR" altLang="en-US" sz="1200" i="1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>
                    <a:glow rad="63500">
                      <a:schemeClr val="bg1"/>
                    </a:glow>
                  </a:effectLst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ED5C4E-AB7C-0E6B-1AAB-29B1F6C35D9B}"/>
                </a:ext>
              </a:extLst>
            </p:cNvPr>
            <p:cNvSpPr txBox="1"/>
            <p:nvPr/>
          </p:nvSpPr>
          <p:spPr>
            <a:xfrm>
              <a:off x="387480" y="5429772"/>
              <a:ext cx="526920" cy="51828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marL="36000" marR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ko-KR" altLang="en-US" sz="1200" b="1" i="0" u="sng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전문</a:t>
              </a:r>
              <a:br>
                <a:rPr kumimoji="0" lang="en-US" altLang="ko-KR" sz="1200" b="1" i="0" u="sng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200" b="1" i="0" u="sng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서비스</a:t>
              </a:r>
              <a:endPara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84C771A8-D7A7-5D5F-0702-ACE975222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117" y="5429772"/>
              <a:ext cx="3358362" cy="518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108000" marR="0" lvl="0" indent="-1080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맑은 고딕" panose="020B0503020000020004" pitchFamily="50" charset="-127"/>
                <a:buChar char="-"/>
                <a:tabLst/>
                <a:defRPr/>
              </a:pP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Thomson Reuter</a:t>
              </a:r>
              <a:r>
                <a:rPr lang="en-US" altLang="ko-KR" sz="1200" u="sng" baseline="30000">
                  <a:solidFill>
                    <a:prstClr val="black"/>
                  </a:solidFill>
                  <a:latin typeface="+mn-ea"/>
                </a:rPr>
                <a:t>1)</a:t>
              </a:r>
              <a:r>
                <a:rPr lang="en-US" altLang="ko-KR" sz="1000" u="sng">
                  <a:solidFill>
                    <a:srgbClr val="FF0000"/>
                  </a:solidFill>
                  <a:latin typeface="+mn-ea"/>
                </a:rPr>
                <a:t>(-15%)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, LegalZoom</a:t>
              </a:r>
              <a:r>
                <a:rPr lang="en-US" altLang="ko-KR" sz="1200" u="sng" baseline="30000">
                  <a:solidFill>
                    <a:prstClr val="black"/>
                  </a:solidFill>
                  <a:latin typeface="+mn-ea"/>
                </a:rPr>
                <a:t>2)</a:t>
              </a:r>
              <a:r>
                <a:rPr lang="en-US" altLang="ko-KR" sz="1000" u="sng">
                  <a:solidFill>
                    <a:srgbClr val="FF0000"/>
                  </a:solidFill>
                  <a:latin typeface="+mn-ea"/>
                </a:rPr>
                <a:t>(-20%)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,  RELX</a:t>
              </a:r>
              <a:r>
                <a:rPr lang="en-US" altLang="ko-KR" sz="1200" u="sng" baseline="30000">
                  <a:solidFill>
                    <a:prstClr val="black"/>
                  </a:solidFill>
                  <a:latin typeface="+mn-ea"/>
                </a:rPr>
                <a:t>3)</a:t>
              </a:r>
              <a:r>
                <a:rPr lang="en-US" altLang="ko-KR" sz="1000" u="sng">
                  <a:solidFill>
                    <a:srgbClr val="FF0000"/>
                  </a:solidFill>
                  <a:latin typeface="+mn-ea"/>
                </a:rPr>
                <a:t>(-14%)</a:t>
              </a:r>
              <a:r>
                <a:rPr lang="ko-KR" altLang="en-US" sz="1200" u="sng">
                  <a:solidFill>
                    <a:prstClr val="black"/>
                  </a:solidFill>
                  <a:latin typeface="+mn-ea"/>
                </a:rPr>
                <a:t> 등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 AI</a:t>
              </a:r>
              <a:r>
                <a:rPr lang="ko-KR" altLang="en-US" sz="1200" u="sng">
                  <a:solidFill>
                    <a:prstClr val="black"/>
                  </a:solidFill>
                  <a:latin typeface="+mn-ea"/>
                </a:rPr>
                <a:t>가 대체 가능한 지식노동 분야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 </a:t>
              </a:r>
              <a:endParaRPr kumimoji="0" lang="ko-KR" altLang="ko-KR" sz="1200" i="0" u="sng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BDB1C5-44E0-AD4B-AA0C-85270190E613}"/>
                </a:ext>
              </a:extLst>
            </p:cNvPr>
            <p:cNvSpPr txBox="1"/>
            <p:nvPr/>
          </p:nvSpPr>
          <p:spPr>
            <a:xfrm>
              <a:off x="387480" y="6026229"/>
              <a:ext cx="526920" cy="51828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marL="36000" marR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ko-KR" altLang="en-US" sz="1200" b="1" i="0" u="sng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기업용</a:t>
              </a:r>
              <a:endPara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36000" marR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lang="en-US" altLang="ko-KR" sz="1200" b="1" u="sng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SaaS</a:t>
              </a:r>
              <a:endPara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FB52F298-250F-7662-9E43-CE49DC2A9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117" y="6026229"/>
              <a:ext cx="3358362" cy="518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108000" marR="0" lvl="0" indent="-1080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맑은 고딕" panose="020B0503020000020004" pitchFamily="50" charset="-127"/>
                <a:buChar char="-"/>
                <a:tabLst/>
                <a:defRPr/>
              </a:pP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Salesforce</a:t>
              </a:r>
              <a:r>
                <a:rPr lang="en-US" altLang="ko-KR" sz="1200" u="sng" baseline="30000">
                  <a:solidFill>
                    <a:prstClr val="black"/>
                  </a:solidFill>
                  <a:latin typeface="+mn-ea"/>
                </a:rPr>
                <a:t>4)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, Adobe</a:t>
              </a:r>
              <a:r>
                <a:rPr lang="en-US" altLang="ko-KR" sz="1200" u="sng" baseline="30000">
                  <a:solidFill>
                    <a:prstClr val="black"/>
                  </a:solidFill>
                  <a:latin typeface="+mn-ea"/>
                </a:rPr>
                <a:t>5)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, Microsoft</a:t>
              </a:r>
              <a:r>
                <a:rPr lang="en-US" altLang="ko-KR" sz="1200" u="sng" baseline="30000">
                  <a:solidFill>
                    <a:prstClr val="black"/>
                  </a:solidFill>
                  <a:latin typeface="+mn-ea"/>
                </a:rPr>
                <a:t>6)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 </a:t>
              </a:r>
              <a:r>
                <a:rPr lang="ko-KR" altLang="en-US" sz="1200" u="sng">
                  <a:solidFill>
                    <a:prstClr val="black"/>
                  </a:solidFill>
                  <a:latin typeface="+mn-ea"/>
                </a:rPr>
                <a:t>등 기업용 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SW </a:t>
              </a:r>
              <a:r>
                <a:rPr lang="ko-KR" altLang="en-US" sz="1200" u="sng">
                  <a:solidFill>
                    <a:prstClr val="black"/>
                  </a:solidFill>
                  <a:latin typeface="+mn-ea"/>
                </a:rPr>
                <a:t>및 구독 기반 기업 </a:t>
              </a:r>
              <a:r>
                <a:rPr lang="en-US" altLang="ko-KR" sz="1200" u="sng">
                  <a:solidFill>
                    <a:prstClr val="black"/>
                  </a:solidFill>
                  <a:latin typeface="+mn-ea"/>
                </a:rPr>
                <a:t>10% </a:t>
              </a:r>
              <a:r>
                <a:rPr lang="ko-KR" altLang="en-US" sz="1200" u="sng">
                  <a:solidFill>
                    <a:prstClr val="black"/>
                  </a:solidFill>
                  <a:latin typeface="+mn-ea"/>
                </a:rPr>
                <a:t>가까이 동반 하락</a:t>
              </a:r>
              <a:endParaRPr kumimoji="0" lang="ko-KR" altLang="ko-KR" sz="1200" i="0" u="sng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3B0CA53-21A4-D8AB-9AF5-2BF4B4738891}"/>
              </a:ext>
            </a:extLst>
          </p:cNvPr>
          <p:cNvSpPr txBox="1"/>
          <p:nvPr/>
        </p:nvSpPr>
        <p:spPr>
          <a:xfrm>
            <a:off x="387480" y="6330010"/>
            <a:ext cx="827097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altLang="ko-KR" sz="900" i="1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1)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Thomson Reuter: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법률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세무 전문가를 위한 서비스 제공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sz="900" i="1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LegalZoom: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 변호사 없이 법률 업무를 돕는 온라인 서비스 제공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sz="900" i="1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3)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RELX: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법률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과학 분야 의사결정 지원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sz="900" i="1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4)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Salesforce: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클라우드 기반 고객 관리 솔루션 제공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sz="900" i="1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5)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Adobe: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구독 기반 창작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문서 관리 소프트웨어 제공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sz="900" i="1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6)</a:t>
            </a:r>
            <a:r>
              <a:rPr lang="en-US" altLang="ko-KR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Microsoft: </a:t>
            </a:r>
            <a:r>
              <a:rPr lang="ko-KR" altLang="en-US" sz="900" i="1">
                <a:solidFill>
                  <a:schemeClr val="tx1">
                    <a:lumMod val="50000"/>
                    <a:lumOff val="50000"/>
                  </a:schemeClr>
                </a:solidFill>
              </a:rPr>
              <a:t>기업 업무 생산성 도구 및 클라우드 제공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41CED92-FFE7-8A76-40BF-7D560BB6F861}"/>
              </a:ext>
            </a:extLst>
          </p:cNvPr>
          <p:cNvCxnSpPr>
            <a:cxnSpLocks/>
          </p:cNvCxnSpPr>
          <p:nvPr/>
        </p:nvCxnSpPr>
        <p:spPr>
          <a:xfrm>
            <a:off x="387480" y="6282385"/>
            <a:ext cx="827097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48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00B1-AB71-5C8A-D991-BB756338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AD0D8D-95C1-21B2-4605-383D20923471}"/>
              </a:ext>
            </a:extLst>
          </p:cNvPr>
          <p:cNvSpPr/>
          <p:nvPr/>
        </p:nvSpPr>
        <p:spPr>
          <a:xfrm>
            <a:off x="4698461" y="1763590"/>
            <a:ext cx="3960000" cy="2368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Box 39">
            <a:extLst>
              <a:ext uri="{FF2B5EF4-FFF2-40B4-BE49-F238E27FC236}">
                <a16:creationId xmlns:a16="http://schemas.microsoft.com/office/drawing/2014/main" id="{E335884E-0217-5AFC-9EB0-B1B02A339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0792"/>
            <a:ext cx="9144000" cy="6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44000" marR="0" lvl="0" algn="l" defTabSz="914400" rtl="0" eaLnBrk="1" fontAlgn="auto" latinLnBrk="1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누구나 개발하는 시대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(Vibe Coding)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는 역설적으로 통제 불가능한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AI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(Shadow AI)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의 시대를 예고하며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그 결과 자율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AI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에이전트가 기업의 기존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IT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통제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장벽을 무력화할 가능성이 커지고 있습니다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FA03DEDF-358D-096C-A451-BC3625EC0B2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ko-KR" sz="1800" b="1">
                <a:latin typeface="맑은 고딕"/>
                <a:ea typeface="맑은 고딕" pitchFamily="50" charset="-127"/>
              </a:rPr>
              <a:t>Appendix. </a:t>
            </a:r>
            <a:r>
              <a:rPr kumimoji="1" lang="ko-KR" altLang="en-US" sz="1800" b="1">
                <a:latin typeface="맑은 고딕"/>
                <a:ea typeface="맑은 고딕" pitchFamily="50" charset="-127"/>
              </a:rPr>
              <a:t>향후 전망</a:t>
            </a:r>
          </a:p>
        </p:txBody>
      </p:sp>
      <p:sp>
        <p:nvSpPr>
          <p:cNvPr id="2" name="Rectangle 168">
            <a:extLst>
              <a:ext uri="{FF2B5EF4-FFF2-40B4-BE49-F238E27FC236}">
                <a16:creationId xmlns:a16="http://schemas.microsoft.com/office/drawing/2014/main" id="{E8BFD195-69E3-3695-940A-4F2920006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461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>
                <a:latin typeface="+mn-ea"/>
              </a:rPr>
              <a:t>새로운 보안 위협</a:t>
            </a:r>
            <a:endParaRPr lang="en-US" altLang="ko-KR" sz="1600" b="1"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A4ED2D7-124C-4500-8521-D82D64102A38}"/>
              </a:ext>
            </a:extLst>
          </p:cNvPr>
          <p:cNvCxnSpPr>
            <a:cxnSpLocks/>
          </p:cNvCxnSpPr>
          <p:nvPr/>
        </p:nvCxnSpPr>
        <p:spPr bwMode="auto">
          <a:xfrm>
            <a:off x="4698461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168">
            <a:extLst>
              <a:ext uri="{FF2B5EF4-FFF2-40B4-BE49-F238E27FC236}">
                <a16:creationId xmlns:a16="http://schemas.microsoft.com/office/drawing/2014/main" id="{08DD0773-8AFC-C821-18F9-706B53DEE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480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>
                <a:solidFill>
                  <a:prstClr val="black"/>
                </a:solidFill>
                <a:latin typeface="+mn-ea"/>
              </a:rPr>
              <a:t>개발의 대중화</a:t>
            </a:r>
            <a:endParaRPr lang="en-US" altLang="ko-KR" sz="1600" b="1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14353D8-27C4-1B9F-E10C-31E593881364}"/>
              </a:ext>
            </a:extLst>
          </p:cNvPr>
          <p:cNvCxnSpPr>
            <a:cxnSpLocks/>
          </p:cNvCxnSpPr>
          <p:nvPr/>
        </p:nvCxnSpPr>
        <p:spPr bwMode="auto">
          <a:xfrm>
            <a:off x="387480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그림 22" descr="텍스트, 스크린샷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E599D7-3911-D803-7061-CB5ACEB9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623"/>
          <a:stretch>
            <a:fillRect/>
          </a:stretch>
        </p:blipFill>
        <p:spPr>
          <a:xfrm>
            <a:off x="387480" y="1763589"/>
            <a:ext cx="3960001" cy="19321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235BD73-82C2-F421-FB5F-E1591BC63DD5}"/>
              </a:ext>
            </a:extLst>
          </p:cNvPr>
          <p:cNvSpPr txBox="1"/>
          <p:nvPr/>
        </p:nvSpPr>
        <p:spPr>
          <a:xfrm>
            <a:off x="549274" y="2061312"/>
            <a:ext cx="1067435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1200" b="1" i="1">
                <a:solidFill>
                  <a:srgbClr val="2C3651"/>
                </a:solidFill>
              </a:rPr>
              <a:t>“</a:t>
            </a:r>
            <a:r>
              <a:rPr lang="ko-KR" altLang="en-US" sz="1200" b="1" i="1">
                <a:solidFill>
                  <a:srgbClr val="2C3651"/>
                </a:solidFill>
              </a:rPr>
              <a:t>이런 느낌으로</a:t>
            </a:r>
            <a:br>
              <a:rPr lang="en-US" altLang="ko-KR" sz="1200" b="1" i="1">
                <a:solidFill>
                  <a:srgbClr val="2C3651"/>
                </a:solidFill>
              </a:rPr>
            </a:br>
            <a:r>
              <a:rPr lang="ko-KR" altLang="en-US" sz="1200" b="1" i="1">
                <a:solidFill>
                  <a:srgbClr val="2C3651"/>
                </a:solidFill>
              </a:rPr>
              <a:t>만들어줘</a:t>
            </a:r>
            <a:r>
              <a:rPr lang="en-US" altLang="ko-KR" sz="1200" b="1" i="1">
                <a:solidFill>
                  <a:srgbClr val="2C3651"/>
                </a:solidFill>
              </a:rPr>
              <a:t>.”</a:t>
            </a:r>
            <a:endParaRPr lang="ko-KR" altLang="en-US" sz="1200" b="1" i="1">
              <a:solidFill>
                <a:srgbClr val="2C365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68A99D-44CC-CCFE-4A2D-B6F35B31E2BF}"/>
              </a:ext>
            </a:extLst>
          </p:cNvPr>
          <p:cNvSpPr txBox="1"/>
          <p:nvPr/>
        </p:nvSpPr>
        <p:spPr>
          <a:xfrm>
            <a:off x="387480" y="3708342"/>
            <a:ext cx="3960000" cy="24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L="171450" marR="0" lvl="0" indent="-1714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현업 말 한마디로 </a:t>
            </a:r>
            <a:r>
              <a:rPr kumimoji="0" lang="en-US" altLang="ko-KR" sz="1200" b="1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IT </a:t>
            </a:r>
            <a:r>
              <a:rPr kumimoji="0" lang="ko-KR" altLang="en-US" sz="1200" b="1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부서 거치지 않고 직접 도구 생성</a:t>
            </a:r>
            <a:endParaRPr kumimoji="0" lang="en-US" altLang="ko-KR" sz="1200" b="1" i="0" u="sng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E4CB9C-8534-B57E-3C9E-F3FD3050E5B5}"/>
              </a:ext>
            </a:extLst>
          </p:cNvPr>
          <p:cNvSpPr txBox="1"/>
          <p:nvPr/>
        </p:nvSpPr>
        <p:spPr>
          <a:xfrm>
            <a:off x="1792559" y="1846717"/>
            <a:ext cx="1149843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VIBE CODING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73E2AF0-477D-8704-2C01-271CCE2DF1C5}"/>
              </a:ext>
            </a:extLst>
          </p:cNvPr>
          <p:cNvCxnSpPr>
            <a:cxnSpLocks/>
          </p:cNvCxnSpPr>
          <p:nvPr/>
        </p:nvCxnSpPr>
        <p:spPr>
          <a:xfrm>
            <a:off x="675480" y="4083627"/>
            <a:ext cx="0" cy="2485224"/>
          </a:xfrm>
          <a:prstGeom prst="straightConnector1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화살표: 오각형 27">
            <a:extLst>
              <a:ext uri="{FF2B5EF4-FFF2-40B4-BE49-F238E27FC236}">
                <a16:creationId xmlns:a16="http://schemas.microsoft.com/office/drawing/2014/main" id="{34A3271D-2086-3637-E4C3-FFD50D4DDFFD}"/>
              </a:ext>
            </a:extLst>
          </p:cNvPr>
          <p:cNvSpPr/>
          <p:nvPr/>
        </p:nvSpPr>
        <p:spPr>
          <a:xfrm>
            <a:off x="679924" y="5751536"/>
            <a:ext cx="3667555" cy="576000"/>
          </a:xfrm>
          <a:prstGeom prst="homePlate">
            <a:avLst>
              <a:gd name="adj" fmla="val 222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화살표: 오각형 28">
            <a:extLst>
              <a:ext uri="{FF2B5EF4-FFF2-40B4-BE49-F238E27FC236}">
                <a16:creationId xmlns:a16="http://schemas.microsoft.com/office/drawing/2014/main" id="{A6FEC3A8-0486-6E44-A5E4-64719DB6266C}"/>
              </a:ext>
            </a:extLst>
          </p:cNvPr>
          <p:cNvSpPr/>
          <p:nvPr/>
        </p:nvSpPr>
        <p:spPr>
          <a:xfrm>
            <a:off x="679924" y="4277473"/>
            <a:ext cx="3667555" cy="576000"/>
          </a:xfrm>
          <a:prstGeom prst="homePlate">
            <a:avLst>
              <a:gd name="adj" fmla="val 222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화살표: 오각형 29">
            <a:extLst>
              <a:ext uri="{FF2B5EF4-FFF2-40B4-BE49-F238E27FC236}">
                <a16:creationId xmlns:a16="http://schemas.microsoft.com/office/drawing/2014/main" id="{5833E756-5F31-8061-E014-C49E9F91D3B5}"/>
              </a:ext>
            </a:extLst>
          </p:cNvPr>
          <p:cNvSpPr/>
          <p:nvPr/>
        </p:nvSpPr>
        <p:spPr>
          <a:xfrm>
            <a:off x="679924" y="5014504"/>
            <a:ext cx="3667555" cy="576000"/>
          </a:xfrm>
          <a:prstGeom prst="homePlate">
            <a:avLst>
              <a:gd name="adj" fmla="val 222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69EBC01-E257-D016-33C2-CBA9F2C53BFC}"/>
              </a:ext>
            </a:extLst>
          </p:cNvPr>
          <p:cNvSpPr/>
          <p:nvPr/>
        </p:nvSpPr>
        <p:spPr>
          <a:xfrm>
            <a:off x="387480" y="5751536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E69E124-6EA6-852C-D4E5-E051EC06CE2D}"/>
              </a:ext>
            </a:extLst>
          </p:cNvPr>
          <p:cNvSpPr/>
          <p:nvPr/>
        </p:nvSpPr>
        <p:spPr>
          <a:xfrm>
            <a:off x="387480" y="427747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5CB0AB9-48CF-BFA4-55CD-30BE6FC50581}"/>
              </a:ext>
            </a:extLst>
          </p:cNvPr>
          <p:cNvSpPr/>
          <p:nvPr/>
        </p:nvSpPr>
        <p:spPr>
          <a:xfrm>
            <a:off x="387480" y="5014504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0941F0-C2B0-502E-C52E-619742A86A58}"/>
              </a:ext>
            </a:extLst>
          </p:cNvPr>
          <p:cNvSpPr txBox="1"/>
          <p:nvPr/>
        </p:nvSpPr>
        <p:spPr>
          <a:xfrm>
            <a:off x="992525" y="4380807"/>
            <a:ext cx="3275999" cy="36933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R="0" lvl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u="sng">
                <a:latin typeface="+mn-ea"/>
              </a:rPr>
              <a:t>중앙 집중형 </a:t>
            </a:r>
            <a:r>
              <a:rPr lang="en-US" altLang="ko-KR" sz="1200" u="sng">
                <a:latin typeface="+mn-ea"/>
              </a:rPr>
              <a:t>SW</a:t>
            </a:r>
            <a:r>
              <a:rPr lang="en-US" altLang="ko-KR" sz="1000" u="sng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(ERP, MES </a:t>
            </a:r>
            <a:r>
              <a:rPr lang="ko-KR" altLang="en-US" sz="1000" u="sng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등</a:t>
            </a:r>
            <a:r>
              <a:rPr lang="en-US" altLang="ko-KR" sz="1000" u="sng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r>
              <a:rPr lang="en-US" altLang="ko-KR" sz="1200" u="sng">
                <a:latin typeface="+mn-ea"/>
              </a:rPr>
              <a:t> </a:t>
            </a:r>
            <a:r>
              <a:rPr lang="ko-KR" altLang="en-US" sz="1200" u="sng">
                <a:latin typeface="+mn-ea"/>
              </a:rPr>
              <a:t>의존도가 낮아지고</a:t>
            </a:r>
            <a:r>
              <a:rPr lang="en-US" altLang="ko-KR" sz="1200" u="sng">
                <a:latin typeface="+mn-ea"/>
              </a:rPr>
              <a:t>,</a:t>
            </a:r>
            <a:r>
              <a:rPr lang="ko-KR" altLang="en-US" sz="1200" u="sng">
                <a:latin typeface="+mn-ea"/>
              </a:rPr>
              <a:t> 파편화된 앱</a:t>
            </a:r>
            <a:r>
              <a:rPr lang="en-US" altLang="ko-KR" sz="1000" u="sng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(Micro-apps)</a:t>
            </a:r>
            <a:r>
              <a:rPr lang="en-US" altLang="ko-KR" sz="1200" u="sng">
                <a:latin typeface="+mn-ea"/>
              </a:rPr>
              <a:t> </a:t>
            </a:r>
            <a:r>
              <a:rPr lang="ko-KR" altLang="en-US" sz="1200" u="sng">
                <a:latin typeface="+mn-ea"/>
              </a:rPr>
              <a:t>사용 폭발적으로 증가</a:t>
            </a:r>
            <a:endParaRPr lang="en-US" altLang="ko-KR" sz="1100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EC179F-580E-5F77-9BD3-AF342C0713D6}"/>
              </a:ext>
            </a:extLst>
          </p:cNvPr>
          <p:cNvSpPr txBox="1"/>
          <p:nvPr/>
        </p:nvSpPr>
        <p:spPr>
          <a:xfrm>
            <a:off x="992525" y="5117838"/>
            <a:ext cx="3275999" cy="36933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R="0" lvl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u="sng">
                <a:latin typeface="+mn-ea"/>
              </a:rPr>
              <a:t>기업 내부 </a:t>
            </a:r>
            <a:r>
              <a:rPr lang="en-US" altLang="ko-KR" sz="1200" u="sng">
                <a:latin typeface="+mn-ea"/>
              </a:rPr>
              <a:t>IT</a:t>
            </a:r>
            <a:r>
              <a:rPr lang="ko-KR" altLang="en-US" sz="1200" u="sng">
                <a:latin typeface="+mn-ea"/>
              </a:rPr>
              <a:t> 생태계가 통제 불가능할 정도로 </a:t>
            </a:r>
            <a:r>
              <a:rPr lang="ko-KR" altLang="en-US" sz="1200" u="sng" err="1">
                <a:latin typeface="+mn-ea"/>
              </a:rPr>
              <a:t>복잡해지며</a:t>
            </a:r>
            <a:r>
              <a:rPr lang="en-US" altLang="ko-KR" sz="1200" u="sng">
                <a:latin typeface="+mn-ea"/>
              </a:rPr>
              <a:t>, </a:t>
            </a:r>
            <a:r>
              <a:rPr lang="ko-KR" altLang="en-US" sz="1200" u="sng">
                <a:latin typeface="+mn-ea"/>
              </a:rPr>
              <a:t>기존의</a:t>
            </a:r>
            <a:r>
              <a:rPr lang="en-US" altLang="ko-KR" sz="1200" u="sng">
                <a:latin typeface="+mn-ea"/>
              </a:rPr>
              <a:t> </a:t>
            </a:r>
            <a:r>
              <a:rPr lang="ko-KR" altLang="en-US" sz="1200" u="sng">
                <a:latin typeface="+mn-ea"/>
              </a:rPr>
              <a:t>거버넌스 체계 작동 불가</a:t>
            </a:r>
            <a:endParaRPr lang="en-US" altLang="ko-KR" sz="1100"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0FBAC0-54E4-A8F6-ACD5-6A23FD632B78}"/>
              </a:ext>
            </a:extLst>
          </p:cNvPr>
          <p:cNvSpPr txBox="1"/>
          <p:nvPr/>
        </p:nvSpPr>
        <p:spPr>
          <a:xfrm>
            <a:off x="992525" y="5854870"/>
            <a:ext cx="3275999" cy="36933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R="0" lvl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u="sng">
                <a:latin typeface="+mn-ea"/>
              </a:rPr>
              <a:t>특히</a:t>
            </a:r>
            <a:r>
              <a:rPr lang="en-US" altLang="ko-KR" sz="1200" u="sng">
                <a:latin typeface="+mn-ea"/>
              </a:rPr>
              <a:t>, </a:t>
            </a:r>
            <a:r>
              <a:rPr lang="ko-KR" altLang="en-US" sz="1200" u="sng">
                <a:latin typeface="+mn-ea"/>
              </a:rPr>
              <a:t>검증되지 않은 코드와 무분별한 외부 </a:t>
            </a:r>
            <a:r>
              <a:rPr lang="en-US" altLang="ko-KR" sz="1200" u="sng">
                <a:latin typeface="+mn-ea"/>
              </a:rPr>
              <a:t>API </a:t>
            </a:r>
            <a:r>
              <a:rPr lang="ko-KR" altLang="en-US" sz="1200" u="sng">
                <a:latin typeface="+mn-ea"/>
              </a:rPr>
              <a:t>연동 급증하며</a:t>
            </a:r>
            <a:r>
              <a:rPr lang="en-US" altLang="ko-KR" sz="1200" u="sng">
                <a:latin typeface="+mn-ea"/>
              </a:rPr>
              <a:t>, </a:t>
            </a:r>
            <a:r>
              <a:rPr lang="ko-KR" altLang="en-US" sz="1200" u="sng">
                <a:latin typeface="+mn-ea"/>
              </a:rPr>
              <a:t>보안 관제가 불가한 영역 발생</a:t>
            </a:r>
            <a:endParaRPr lang="en-US" altLang="ko-KR" sz="1100">
              <a:latin typeface="+mn-ea"/>
            </a:endParaRPr>
          </a:p>
        </p:txBody>
      </p:sp>
      <p:pic>
        <p:nvPicPr>
          <p:cNvPr id="50" name="그림 4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638CEA-92CD-B476-E5E4-87C9B145C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80" y="4385473"/>
            <a:ext cx="360000" cy="360000"/>
          </a:xfrm>
          <a:prstGeom prst="rect">
            <a:avLst/>
          </a:prstGeom>
        </p:spPr>
      </p:pic>
      <p:pic>
        <p:nvPicPr>
          <p:cNvPr id="54" name="그림 5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C9F101-DCF5-CE5A-ACF5-482ADC89A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80" y="5122504"/>
            <a:ext cx="360000" cy="360000"/>
          </a:xfrm>
          <a:prstGeom prst="rect">
            <a:avLst/>
          </a:prstGeom>
        </p:spPr>
      </p:pic>
      <p:pic>
        <p:nvPicPr>
          <p:cNvPr id="56" name="그림 5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A8D736-8EB1-4D2B-4AE2-33D4A7C2E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80" y="5859536"/>
            <a:ext cx="360000" cy="360000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0A50A594-47A9-7201-A6C0-EB7144AA6249}"/>
              </a:ext>
            </a:extLst>
          </p:cNvPr>
          <p:cNvGrpSpPr/>
          <p:nvPr/>
        </p:nvGrpSpPr>
        <p:grpSpPr>
          <a:xfrm>
            <a:off x="4698461" y="1763589"/>
            <a:ext cx="3887263" cy="900000"/>
            <a:chOff x="4698461" y="1763589"/>
            <a:chExt cx="3887263" cy="900000"/>
          </a:xfrm>
        </p:grpSpPr>
        <p:graphicFrame>
          <p:nvGraphicFramePr>
            <p:cNvPr id="59" name="차트 58">
              <a:extLst>
                <a:ext uri="{FF2B5EF4-FFF2-40B4-BE49-F238E27FC236}">
                  <a16:creationId xmlns:a16="http://schemas.microsoft.com/office/drawing/2014/main" id="{84A83273-9A62-8B70-F30C-870ABDA7A3B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45370057"/>
                </p:ext>
              </p:extLst>
            </p:nvPr>
          </p:nvGraphicFramePr>
          <p:xfrm>
            <a:off x="4698461" y="1763589"/>
            <a:ext cx="900000" cy="9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F67B3D-6A57-A230-77FF-F3CAA87D4922}"/>
                </a:ext>
              </a:extLst>
            </p:cNvPr>
            <p:cNvSpPr txBox="1"/>
            <p:nvPr/>
          </p:nvSpPr>
          <p:spPr>
            <a:xfrm>
              <a:off x="5570916" y="2028923"/>
              <a:ext cx="301480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200">
                  <a:latin typeface="+mn-ea"/>
                </a:rPr>
                <a:t>전체 기업의 </a:t>
              </a:r>
              <a:r>
                <a:rPr lang="en-US" altLang="ko-KR" sz="1200">
                  <a:latin typeface="+mn-ea"/>
                </a:rPr>
                <a:t>98%</a:t>
              </a:r>
              <a:r>
                <a:rPr lang="ko-KR" altLang="en-US" sz="1200">
                  <a:latin typeface="+mn-ea"/>
                </a:rPr>
                <a:t>에서 직원들이 승인되지 않은 앱을 몰래 사용 중입니다</a:t>
              </a:r>
              <a:r>
                <a:rPr lang="en-US" altLang="ko-KR" sz="1200">
                  <a:latin typeface="+mn-ea"/>
                </a:rPr>
                <a:t>.</a:t>
              </a:r>
              <a:endParaRPr lang="ko-KR" altLang="en-US" sz="1200"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93CF56-58D4-B05F-FDCC-34049D0DD8D8}"/>
                </a:ext>
              </a:extLst>
            </p:cNvPr>
            <p:cNvSpPr txBox="1"/>
            <p:nvPr/>
          </p:nvSpPr>
          <p:spPr>
            <a:xfrm>
              <a:off x="5028040" y="2221715"/>
              <a:ext cx="609044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b="1">
                  <a:solidFill>
                    <a:schemeClr val="bg1"/>
                  </a:solidFill>
                  <a:effectLst>
                    <a:glow rad="63500">
                      <a:schemeClr val="tx2"/>
                    </a:glow>
                  </a:effectLst>
                </a:rPr>
                <a:t>98%</a:t>
              </a:r>
              <a:endParaRPr lang="ko-KR" altLang="en-US" sz="1200" b="1">
                <a:solidFill>
                  <a:schemeClr val="bg1"/>
                </a:solidFill>
                <a:effectLst>
                  <a:glow rad="63500">
                    <a:schemeClr val="tx2"/>
                  </a:glow>
                </a:effectLst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74DF855-0E01-DD24-F610-456BC3A3547F}"/>
              </a:ext>
            </a:extLst>
          </p:cNvPr>
          <p:cNvGrpSpPr/>
          <p:nvPr/>
        </p:nvGrpSpPr>
        <p:grpSpPr>
          <a:xfrm>
            <a:off x="4698461" y="2497703"/>
            <a:ext cx="3887263" cy="900000"/>
            <a:chOff x="4698461" y="2531040"/>
            <a:chExt cx="3887263" cy="900000"/>
          </a:xfrm>
        </p:grpSpPr>
        <p:graphicFrame>
          <p:nvGraphicFramePr>
            <p:cNvPr id="60" name="차트 59">
              <a:extLst>
                <a:ext uri="{FF2B5EF4-FFF2-40B4-BE49-F238E27FC236}">
                  <a16:creationId xmlns:a16="http://schemas.microsoft.com/office/drawing/2014/main" id="{357D97EE-2F5F-6A5E-35BC-ADBBC530840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18494696"/>
                </p:ext>
              </p:extLst>
            </p:nvPr>
          </p:nvGraphicFramePr>
          <p:xfrm>
            <a:off x="4698461" y="2531040"/>
            <a:ext cx="900000" cy="9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8AF807-731A-758A-CFB9-07E0BFE881E5}"/>
                </a:ext>
              </a:extLst>
            </p:cNvPr>
            <p:cNvSpPr txBox="1"/>
            <p:nvPr/>
          </p:nvSpPr>
          <p:spPr>
            <a:xfrm>
              <a:off x="5570916" y="2796374"/>
              <a:ext cx="301480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200">
                  <a:latin typeface="+mn-ea"/>
                </a:rPr>
                <a:t>전체 직원의 </a:t>
              </a:r>
              <a:r>
                <a:rPr lang="en-US" altLang="ko-KR" sz="1200">
                  <a:latin typeface="+mn-ea"/>
                </a:rPr>
                <a:t>52%</a:t>
              </a:r>
              <a:r>
                <a:rPr lang="ko-KR" altLang="en-US" sz="1200">
                  <a:latin typeface="+mn-ea"/>
                </a:rPr>
                <a:t>가 보안 위험도가 높은 외부 연동 앱을 사용 중입니다</a:t>
              </a:r>
              <a:r>
                <a:rPr lang="en-US" altLang="ko-KR" sz="1200">
                  <a:latin typeface="+mn-ea"/>
                </a:rPr>
                <a:t>.</a:t>
              </a:r>
              <a:endParaRPr lang="ko-KR" altLang="en-US" sz="1200"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0DEDAB-3A69-C6A7-9FCE-E4723FF309A8}"/>
                </a:ext>
              </a:extLst>
            </p:cNvPr>
            <p:cNvSpPr txBox="1"/>
            <p:nvPr/>
          </p:nvSpPr>
          <p:spPr>
            <a:xfrm>
              <a:off x="5028040" y="2913493"/>
              <a:ext cx="609044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b="1">
                  <a:solidFill>
                    <a:schemeClr val="bg1"/>
                  </a:solidFill>
                  <a:effectLst>
                    <a:glow rad="63500">
                      <a:schemeClr val="tx2"/>
                    </a:glow>
                  </a:effectLst>
                </a:rPr>
                <a:t>52%</a:t>
              </a:r>
              <a:endParaRPr lang="ko-KR" altLang="en-US" sz="1200" b="1">
                <a:solidFill>
                  <a:schemeClr val="bg1"/>
                </a:solidFill>
                <a:effectLst>
                  <a:glow rad="63500">
                    <a:schemeClr val="tx2"/>
                  </a:glow>
                </a:effectLst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A361624-7134-81A3-EE58-EACC56863DF4}"/>
              </a:ext>
            </a:extLst>
          </p:cNvPr>
          <p:cNvGrpSpPr/>
          <p:nvPr/>
        </p:nvGrpSpPr>
        <p:grpSpPr>
          <a:xfrm>
            <a:off x="4698461" y="3231816"/>
            <a:ext cx="3887263" cy="900000"/>
            <a:chOff x="4698461" y="3298491"/>
            <a:chExt cx="3887263" cy="900000"/>
          </a:xfrm>
        </p:grpSpPr>
        <p:graphicFrame>
          <p:nvGraphicFramePr>
            <p:cNvPr id="61" name="차트 60">
              <a:extLst>
                <a:ext uri="{FF2B5EF4-FFF2-40B4-BE49-F238E27FC236}">
                  <a16:creationId xmlns:a16="http://schemas.microsoft.com/office/drawing/2014/main" id="{AF32818D-50C6-FFCE-A359-7929EA43DA6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46104644"/>
                </p:ext>
              </p:extLst>
            </p:nvPr>
          </p:nvGraphicFramePr>
          <p:xfrm>
            <a:off x="4698461" y="3298491"/>
            <a:ext cx="900000" cy="9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BC3401-743D-F986-0A77-9161C74E2282}"/>
                </a:ext>
              </a:extLst>
            </p:cNvPr>
            <p:cNvSpPr txBox="1"/>
            <p:nvPr/>
          </p:nvSpPr>
          <p:spPr>
            <a:xfrm>
              <a:off x="5570916" y="3563825"/>
              <a:ext cx="301480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200">
                  <a:latin typeface="+mn-ea"/>
                </a:rPr>
                <a:t>사용되는 승인되지 않은 앱 </a:t>
              </a:r>
              <a:r>
                <a:rPr lang="en-US" altLang="ko-KR" sz="1200">
                  <a:latin typeface="+mn-ea"/>
                </a:rPr>
                <a:t>4</a:t>
              </a:r>
              <a:r>
                <a:rPr lang="ko-KR" altLang="en-US" sz="1200">
                  <a:latin typeface="+mn-ea"/>
                </a:rPr>
                <a:t>개 중 </a:t>
              </a:r>
              <a:r>
                <a:rPr lang="en-US" altLang="ko-KR" sz="1200">
                  <a:latin typeface="+mn-ea"/>
                </a:rPr>
                <a:t>1</a:t>
              </a:r>
              <a:r>
                <a:rPr lang="ko-KR" altLang="en-US" sz="1200">
                  <a:latin typeface="+mn-ea"/>
                </a:rPr>
                <a:t>개는 실제로 보안 위험이 있습니다</a:t>
              </a:r>
              <a:r>
                <a:rPr lang="en-US" altLang="ko-KR" sz="1200">
                  <a:latin typeface="+mn-ea"/>
                </a:rPr>
                <a:t>.</a:t>
              </a:r>
              <a:endParaRPr lang="ko-KR" altLang="en-US" sz="1200">
                <a:latin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705F18C-8C9A-9D5B-0EC0-F7AC7AF08FDA}"/>
                </a:ext>
              </a:extLst>
            </p:cNvPr>
            <p:cNvSpPr txBox="1"/>
            <p:nvPr/>
          </p:nvSpPr>
          <p:spPr>
            <a:xfrm>
              <a:off x="5028040" y="3471373"/>
              <a:ext cx="609044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b="1">
                  <a:solidFill>
                    <a:schemeClr val="bg1"/>
                  </a:solidFill>
                  <a:effectLst>
                    <a:glow rad="63500">
                      <a:schemeClr val="tx2"/>
                    </a:glow>
                  </a:effectLst>
                </a:rPr>
                <a:t>1/4</a:t>
              </a:r>
              <a:endParaRPr lang="ko-KR" altLang="en-US" sz="1200" b="1">
                <a:solidFill>
                  <a:schemeClr val="bg1"/>
                </a:solidFill>
                <a:effectLst>
                  <a:glow rad="63500">
                    <a:schemeClr val="tx2"/>
                  </a:glow>
                </a:effectLst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43F45F1-E529-A934-501B-9FE061DF7168}"/>
              </a:ext>
            </a:extLst>
          </p:cNvPr>
          <p:cNvSpPr txBox="1"/>
          <p:nvPr/>
        </p:nvSpPr>
        <p:spPr>
          <a:xfrm>
            <a:off x="4698461" y="4150537"/>
            <a:ext cx="3959999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altLang="ko-KR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Source: 2025 State of Data Security Report, 2025</a:t>
            </a:r>
            <a:endParaRPr lang="ko-KR" altLang="en-US" sz="10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D1B433-706A-388C-2A6F-DA278D3A2D42}"/>
              </a:ext>
            </a:extLst>
          </p:cNvPr>
          <p:cNvSpPr/>
          <p:nvPr/>
        </p:nvSpPr>
        <p:spPr>
          <a:xfrm>
            <a:off x="4698462" y="4480021"/>
            <a:ext cx="1624518" cy="2638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i="1">
                <a:solidFill>
                  <a:schemeClr val="tx1"/>
                </a:solidFill>
                <a:effectLst>
                  <a:glow rad="63500">
                    <a:schemeClr val="bg1"/>
                  </a:glow>
                </a:effectLst>
              </a:rPr>
              <a:t>Shadow AI</a:t>
            </a:r>
            <a:endParaRPr lang="ko-KR" altLang="en-US" sz="1200" b="1" i="1">
              <a:solidFill>
                <a:schemeClr val="tx1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30C7C8-8A83-3997-3ABE-0B992966A25D}"/>
              </a:ext>
            </a:extLst>
          </p:cNvPr>
          <p:cNvSpPr txBox="1"/>
          <p:nvPr/>
        </p:nvSpPr>
        <p:spPr>
          <a:xfrm>
            <a:off x="4698460" y="4800149"/>
            <a:ext cx="3959997" cy="518283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108000" marR="0" lvl="0" indent="-10800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>
                <a:latin typeface="+mn-ea"/>
              </a:rPr>
              <a:t>직원이 생산성 향상을 위해 승인 없이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 err="1">
                <a:latin typeface="+mn-ea"/>
              </a:rPr>
              <a:t>오픈클로</a:t>
            </a:r>
            <a:r>
              <a:rPr lang="en-US" altLang="ko-KR" sz="1200">
                <a:latin typeface="+mn-ea"/>
              </a:rPr>
              <a:t>‘ </a:t>
            </a:r>
            <a:r>
              <a:rPr lang="ko-KR" altLang="en-US" sz="1200">
                <a:latin typeface="+mn-ea"/>
              </a:rPr>
              <a:t>같은 로컬 에이전트 설치 후 사내 기밀 및 네트워크 무단 접근</a:t>
            </a:r>
            <a:endParaRPr lang="en-US" altLang="ko-KR" sz="1200" b="1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D1E887C-F542-BC68-1C65-C3D6434F5EA1}"/>
              </a:ext>
            </a:extLst>
          </p:cNvPr>
          <p:cNvSpPr/>
          <p:nvPr/>
        </p:nvSpPr>
        <p:spPr>
          <a:xfrm>
            <a:off x="4698462" y="5489125"/>
            <a:ext cx="1624518" cy="2638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i="1">
                <a:solidFill>
                  <a:schemeClr val="tx1"/>
                </a:solidFill>
                <a:effectLst>
                  <a:glow rad="63500">
                    <a:schemeClr val="bg1"/>
                  </a:glow>
                </a:effectLst>
              </a:rPr>
              <a:t>프롬프트 주입 공격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845249-9950-B4BA-87E2-F5D906E85B75}"/>
              </a:ext>
            </a:extLst>
          </p:cNvPr>
          <p:cNvSpPr txBox="1"/>
          <p:nvPr/>
        </p:nvSpPr>
        <p:spPr>
          <a:xfrm>
            <a:off x="4698460" y="5809253"/>
            <a:ext cx="3959997" cy="518283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108000" marR="0" lvl="0" indent="-10800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>
                <a:latin typeface="+mn-ea"/>
              </a:rPr>
              <a:t>해커가 이메일이나 문서에 눈에 띄지 않는 명령어를 심고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에이전트가 이를 읽는 순간 데이터 및 권한 탈취</a:t>
            </a:r>
            <a:endParaRPr lang="en-US" altLang="ko-KR" sz="12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417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0FB0-65B6-D6FE-8A4A-1AE7BF72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9">
            <a:extLst>
              <a:ext uri="{FF2B5EF4-FFF2-40B4-BE49-F238E27FC236}">
                <a16:creationId xmlns:a16="http://schemas.microsoft.com/office/drawing/2014/main" id="{4CCE67FB-E526-5754-D2FF-08C7AF3BD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0792"/>
            <a:ext cx="9144000" cy="6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44000" lvl="0" eaLnBrk="1" hangingPunct="1">
              <a:lnSpc>
                <a:spcPct val="150000"/>
              </a:lnSpc>
              <a:defRPr/>
            </a:pPr>
            <a:r>
              <a:rPr lang="ko-KR" altLang="en-US" sz="1600">
                <a:latin typeface="맑은 고딕" pitchFamily="50" charset="-127"/>
                <a:ea typeface="맑은 고딕" pitchFamily="50" charset="-127"/>
              </a:rPr>
              <a:t>단순 질의응답 중심의</a:t>
            </a:r>
            <a:r>
              <a:rPr lang="en-US" altLang="ko-KR" sz="16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>
                <a:latin typeface="맑은 고딕" pitchFamily="50" charset="-127"/>
                <a:ea typeface="맑은 고딕" pitchFamily="50" charset="-127"/>
              </a:rPr>
              <a:t>서비스는 향후 에이전트 경쟁에서 한계가 예상됩니다</a:t>
            </a:r>
            <a:r>
              <a:rPr lang="en-US" altLang="ko-KR" sz="160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>
                <a:latin typeface="맑은 고딕" pitchFamily="50" charset="-127"/>
                <a:ea typeface="맑은 고딕" pitchFamily="50" charset="-127"/>
              </a:rPr>
              <a:t>이에 이수시스템 측에 기술 트렌드를 반영한 현 </a:t>
            </a:r>
            <a:r>
              <a:rPr lang="en-US" altLang="ko-KR" sz="1600">
                <a:latin typeface="맑은 고딕" pitchFamily="50" charset="-127"/>
                <a:ea typeface="맑은 고딕" pitchFamily="50" charset="-127"/>
              </a:rPr>
              <a:t>AI Portal </a:t>
            </a:r>
            <a:r>
              <a:rPr lang="ko-KR" altLang="en-US" sz="1600">
                <a:latin typeface="맑은 고딕" pitchFamily="50" charset="-127"/>
                <a:ea typeface="맑은 고딕" pitchFamily="50" charset="-127"/>
              </a:rPr>
              <a:t>전략의 실효성 있는 대응 방안 수립을 요구하겠습니다</a:t>
            </a:r>
            <a:r>
              <a:rPr lang="en-US" altLang="ko-KR" sz="160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E164C767-A55A-B8D3-36AD-57CE8DC4E4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ko-KR" sz="1800" b="1"/>
              <a:t>3. </a:t>
            </a:r>
            <a:r>
              <a:rPr kumimoji="1" lang="ko-KR" altLang="en-US" sz="1800" b="1"/>
              <a:t>대응 전략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DD3A06-7082-6D36-64F9-ECEAA9872DD6}"/>
              </a:ext>
            </a:extLst>
          </p:cNvPr>
          <p:cNvSpPr/>
          <p:nvPr/>
        </p:nvSpPr>
        <p:spPr>
          <a:xfrm>
            <a:off x="321547" y="1606709"/>
            <a:ext cx="4860000" cy="3215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Q) A</a:t>
            </a:r>
            <a:r>
              <a:rPr kumimoji="0" lang="ko-KR" altLang="en-US" sz="1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사의 </a:t>
            </a:r>
            <a:r>
              <a:rPr kumimoji="0" lang="en-US" altLang="ko-KR" sz="1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년치 공헌이익 추이를 알려줘</a:t>
            </a:r>
            <a:r>
              <a:rPr kumimoji="0" lang="en-US" altLang="ko-KR" sz="1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471C71-0F9F-580A-AB8B-7D05F8500136}"/>
              </a:ext>
            </a:extLst>
          </p:cNvPr>
          <p:cNvSpPr/>
          <p:nvPr/>
        </p:nvSpPr>
        <p:spPr>
          <a:xfrm>
            <a:off x="321547" y="2077547"/>
            <a:ext cx="1039021" cy="7164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 Portal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D79141EA-E747-D51C-9CCF-A137F6BFA6E0}"/>
              </a:ext>
            </a:extLst>
          </p:cNvPr>
          <p:cNvSpPr/>
          <p:nvPr/>
        </p:nvSpPr>
        <p:spPr>
          <a:xfrm flipV="1">
            <a:off x="321547" y="2942474"/>
            <a:ext cx="4860000" cy="0"/>
          </a:xfrm>
          <a:custGeom>
            <a:avLst/>
            <a:gdLst>
              <a:gd name="csX0" fmla="*/ 0 w 8130209"/>
              <a:gd name="csY0" fmla="*/ 0 h 0"/>
              <a:gd name="csX1" fmla="*/ 8130209 w 8130209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130209">
                <a:moveTo>
                  <a:pt x="0" y="0"/>
                </a:moveTo>
                <a:lnTo>
                  <a:pt x="8130209" y="0"/>
                </a:lnTo>
              </a:path>
            </a:pathLst>
          </a:custGeom>
          <a:noFill/>
          <a:ln w="19050">
            <a:solidFill>
              <a:srgbClr val="AFABAB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0622A0D-39FC-BCD7-9314-2674C0F1FB46}"/>
              </a:ext>
            </a:extLst>
          </p:cNvPr>
          <p:cNvSpPr/>
          <p:nvPr/>
        </p:nvSpPr>
        <p:spPr>
          <a:xfrm>
            <a:off x="321547" y="3091765"/>
            <a:ext cx="1039021" cy="7164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Al Portal</a:t>
            </a:r>
            <a:b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Agent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28A7799B-19B7-A9C8-8FCE-0AF0853542DC}"/>
              </a:ext>
            </a:extLst>
          </p:cNvPr>
          <p:cNvSpPr/>
          <p:nvPr/>
        </p:nvSpPr>
        <p:spPr>
          <a:xfrm flipV="1">
            <a:off x="321547" y="3956692"/>
            <a:ext cx="4860000" cy="0"/>
          </a:xfrm>
          <a:custGeom>
            <a:avLst/>
            <a:gdLst>
              <a:gd name="csX0" fmla="*/ 0 w 8130209"/>
              <a:gd name="csY0" fmla="*/ 0 h 0"/>
              <a:gd name="csX1" fmla="*/ 8130209 w 8130209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130209">
                <a:moveTo>
                  <a:pt x="0" y="0"/>
                </a:moveTo>
                <a:lnTo>
                  <a:pt x="8130209" y="0"/>
                </a:lnTo>
              </a:path>
            </a:pathLst>
          </a:custGeom>
          <a:noFill/>
          <a:ln w="19050">
            <a:solidFill>
              <a:srgbClr val="AFABAB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93604D4-4F39-0341-429F-A8C6EE8718AC}"/>
              </a:ext>
            </a:extLst>
          </p:cNvPr>
          <p:cNvSpPr/>
          <p:nvPr/>
        </p:nvSpPr>
        <p:spPr>
          <a:xfrm>
            <a:off x="321547" y="4105983"/>
            <a:ext cx="1039021" cy="7164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클로드</a:t>
            </a:r>
            <a:b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코워크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64E1E0CE-D39A-01BB-626C-74B411BDEB0C}"/>
              </a:ext>
            </a:extLst>
          </p:cNvPr>
          <p:cNvSpPr/>
          <p:nvPr/>
        </p:nvSpPr>
        <p:spPr>
          <a:xfrm flipV="1">
            <a:off x="321547" y="4970910"/>
            <a:ext cx="4860000" cy="0"/>
          </a:xfrm>
          <a:custGeom>
            <a:avLst/>
            <a:gdLst>
              <a:gd name="csX0" fmla="*/ 0 w 8130209"/>
              <a:gd name="csY0" fmla="*/ 0 h 0"/>
              <a:gd name="csX1" fmla="*/ 8130209 w 8130209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130209">
                <a:moveTo>
                  <a:pt x="0" y="0"/>
                </a:moveTo>
                <a:lnTo>
                  <a:pt x="8130209" y="0"/>
                </a:lnTo>
              </a:path>
            </a:pathLst>
          </a:custGeom>
          <a:noFill/>
          <a:ln w="19050">
            <a:solidFill>
              <a:srgbClr val="AFABAB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5A31C20-DD3E-7ABB-83AB-55FA0E0D2B1B}"/>
              </a:ext>
            </a:extLst>
          </p:cNvPr>
          <p:cNvSpPr/>
          <p:nvPr/>
        </p:nvSpPr>
        <p:spPr>
          <a:xfrm>
            <a:off x="321547" y="5120201"/>
            <a:ext cx="1039021" cy="7164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오픈클로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CD8775-E8A8-382B-274B-BE4221C3226E}"/>
              </a:ext>
            </a:extLst>
          </p:cNvPr>
          <p:cNvSpPr txBox="1"/>
          <p:nvPr/>
        </p:nvSpPr>
        <p:spPr>
          <a:xfrm>
            <a:off x="1450967" y="2077547"/>
            <a:ext cx="3736800" cy="7156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spAutoFit/>
          </a:bodyPr>
          <a:lstStyle/>
          <a:p>
            <a:pPr marL="252000" marR="0" lvl="0" indent="-252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☞"/>
              <a:tabLst/>
              <a:defRPr/>
            </a:pP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공헌이익은 매출 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변동비로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고정비를 회수하고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</a:p>
          <a:p>
            <a:pPr marL="216000" marR="0" lvl="0" indent="-108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일반적인 개념 설명 수준 답변 제공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16000" marR="0" lvl="0" indent="-108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단순 </a:t>
            </a:r>
            <a:r>
              <a:rPr lang="ko-KR" altLang="en-US" sz="120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챗봇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38D80B-2CFA-3F95-8B89-B55D61BE3D1A}"/>
              </a:ext>
            </a:extLst>
          </p:cNvPr>
          <p:cNvSpPr txBox="1"/>
          <p:nvPr/>
        </p:nvSpPr>
        <p:spPr>
          <a:xfrm>
            <a:off x="1450967" y="3091765"/>
            <a:ext cx="3736800" cy="7156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spAutoFit/>
          </a:bodyPr>
          <a:lstStyle/>
          <a:p>
            <a:pPr marL="252000" marR="0" lvl="0" indent="-252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☞"/>
              <a:tabLst/>
              <a:defRPr/>
            </a:pP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공헌이익 추출 가능한 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Agent 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사전 설계 필수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b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Agent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설계도 안에서 산출물 생성</a:t>
            </a:r>
            <a:endParaRPr kumimoji="0" lang="en-US" altLang="ko-KR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16000" marR="0" lvl="0" indent="-108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회사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Data,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정의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 등의 연결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설계 필수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6C2173-F044-5ECD-F32E-76E49AE32DDB}"/>
              </a:ext>
            </a:extLst>
          </p:cNvPr>
          <p:cNvSpPr txBox="1"/>
          <p:nvPr/>
        </p:nvSpPr>
        <p:spPr>
          <a:xfrm>
            <a:off x="1450967" y="4105983"/>
            <a:ext cx="3736800" cy="7156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spAutoFit/>
          </a:bodyPr>
          <a:lstStyle/>
          <a:p>
            <a:pPr marL="252000" marR="0" lvl="0" indent="-252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☞"/>
              <a:tabLst/>
              <a:defRPr/>
            </a:pP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경영진단분석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’ Plugin 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설치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Plugin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으로</a:t>
            </a:r>
            <a:b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주요 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Factor 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추출 및 결과값 제공</a:t>
            </a:r>
            <a:endParaRPr kumimoji="0" lang="en-US" altLang="ko-KR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16000" marR="0" lvl="0" indent="-108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범용적인 진단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Tool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활용하여 산출물 제공 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C7D7A-F82A-0EED-4888-A345E1FE25A0}"/>
              </a:ext>
            </a:extLst>
          </p:cNvPr>
          <p:cNvSpPr txBox="1"/>
          <p:nvPr/>
        </p:nvSpPr>
        <p:spPr>
          <a:xfrm>
            <a:off x="1450967" y="5120201"/>
            <a:ext cx="3736800" cy="7156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spAutoFit/>
          </a:bodyPr>
          <a:lstStyle/>
          <a:p>
            <a:pPr marL="252000" marR="0" lvl="0" indent="-252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☞"/>
              <a:tabLst/>
              <a:defRPr/>
            </a:pP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필요한 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Skill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스스로 선택 및 호출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Data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탐색 및 검증까지 거쳐 산출물 제공</a:t>
            </a:r>
            <a:r>
              <a:rPr kumimoji="0" lang="en-US" altLang="ko-KR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216000" marR="0" lvl="0" indent="-108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몰트북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같은 </a:t>
            </a:r>
            <a:r>
              <a:rPr lang="en-US" altLang="ko-KR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Skill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저장소에서 선택</a:t>
            </a:r>
            <a:r>
              <a:rPr lang="en-US" altLang="ko-KR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하여 실행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사각형: 모서리가 접힌 도형 25">
            <a:extLst>
              <a:ext uri="{FF2B5EF4-FFF2-40B4-BE49-F238E27FC236}">
                <a16:creationId xmlns:a16="http://schemas.microsoft.com/office/drawing/2014/main" id="{4A8F8A6D-61D2-8E33-C006-10E8936F835A}"/>
              </a:ext>
            </a:extLst>
          </p:cNvPr>
          <p:cNvSpPr/>
          <p:nvPr/>
        </p:nvSpPr>
        <p:spPr>
          <a:xfrm>
            <a:off x="5476461" y="2077547"/>
            <a:ext cx="3260035" cy="4148863"/>
          </a:xfrm>
          <a:prstGeom prst="foldedCorner">
            <a:avLst>
              <a:gd name="adj" fmla="val 893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56C02A-FACB-D950-5803-84EA78AC3B0D}"/>
              </a:ext>
            </a:extLst>
          </p:cNvPr>
          <p:cNvSpPr txBox="1"/>
          <p:nvPr/>
        </p:nvSpPr>
        <p:spPr>
          <a:xfrm>
            <a:off x="5564829" y="2102603"/>
            <a:ext cx="3083298" cy="40987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기존 전략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(AS-IS)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중장기 경쟁력 점검</a:t>
            </a:r>
            <a:endParaRPr kumimoji="0" lang="en-US" altLang="ko-KR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80000" marR="0" lvl="0" indent="-10800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단순 대화형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 Portal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특화 에이전트 중심의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 개발 전략이 에이전트 중심의 시장 변화 속에서도 유효한지 재평가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80000" marR="0" lvl="0" indent="-10800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자율적 결과물 생성이 가능한 </a:t>
            </a:r>
            <a:r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실행형 에이전트 대비 업무 효용성 열위 진단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실행형 에이전트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(TO-BE)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도입 타당성 분석</a:t>
            </a:r>
            <a:endParaRPr lang="en-US" altLang="ko-KR" sz="1200" b="1" u="sng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80000" marR="0" lvl="0" indent="-10800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실행형 에이전트의 로컬 제어 및 자율성 확대에 따른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보안 위협 수준 객관적 평가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80000" marR="0" lvl="0" indent="-10800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사내 규정 및 환경 내에서의 실행형 에이전트의 안전한 수용 가능 여부 판단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이수시스템 측의 전략 방향성 검토 지시</a:t>
            </a:r>
            <a:endParaRPr lang="en-US" altLang="ko-KR" sz="1200" b="1" u="sng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80000" marR="0" lvl="0" indent="-10800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기존 전략 유지 또는 전면 피벗에 대한 </a:t>
            </a:r>
            <a:r>
              <a:rPr lang="ko-KR" altLang="en-US" sz="1200">
                <a:solidFill>
                  <a:prstClr val="black"/>
                </a:solidFill>
                <a:highlight>
                  <a:srgbClr val="FFFF00"/>
                </a:highlight>
                <a:latin typeface="맑은 고딕" panose="020F0502020204030204"/>
                <a:ea typeface="맑은 고딕" panose="020B0503020000020004" pitchFamily="50" charset="-127"/>
              </a:rPr>
              <a:t>자체적 판단 및 구체적 대응 방안</a:t>
            </a:r>
            <a:r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요구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8E614-7B75-992A-117F-D4602B5327A7}"/>
              </a:ext>
            </a:extLst>
          </p:cNvPr>
          <p:cNvSpPr txBox="1"/>
          <p:nvPr/>
        </p:nvSpPr>
        <p:spPr>
          <a:xfrm rot="20960641">
            <a:off x="115060" y="2053831"/>
            <a:ext cx="584885" cy="18466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</a:rPr>
              <a:t>대화형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02307-4BD6-4958-9AF3-984511BD1FFB}"/>
              </a:ext>
            </a:extLst>
          </p:cNvPr>
          <p:cNvSpPr txBox="1"/>
          <p:nvPr/>
        </p:nvSpPr>
        <p:spPr>
          <a:xfrm rot="20960641">
            <a:off x="115060" y="3068049"/>
            <a:ext cx="584885" cy="18466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</a:rPr>
              <a:t>대화형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3376D-7A25-970B-AE9F-F5DE728F9616}"/>
              </a:ext>
            </a:extLst>
          </p:cNvPr>
          <p:cNvSpPr txBox="1"/>
          <p:nvPr/>
        </p:nvSpPr>
        <p:spPr>
          <a:xfrm rot="20960641">
            <a:off x="115060" y="4082267"/>
            <a:ext cx="584885" cy="184666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</a:rPr>
              <a:t>실행형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A43E2-2893-1FFF-1A98-83CE828A2631}"/>
              </a:ext>
            </a:extLst>
          </p:cNvPr>
          <p:cNvSpPr txBox="1"/>
          <p:nvPr/>
        </p:nvSpPr>
        <p:spPr>
          <a:xfrm rot="20960641">
            <a:off x="115060" y="5096485"/>
            <a:ext cx="584885" cy="184666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</a:rPr>
              <a:t>실행형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F01F1A-4860-C029-199A-89DE925A4741}"/>
              </a:ext>
            </a:extLst>
          </p:cNvPr>
          <p:cNvSpPr txBox="1"/>
          <p:nvPr/>
        </p:nvSpPr>
        <p:spPr>
          <a:xfrm>
            <a:off x="321547" y="5985125"/>
            <a:ext cx="4860000" cy="24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altLang="ko-KR" sz="1200" u="sng" kern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200" b="1" i="1" u="sng" kern="0">
                <a:solidFill>
                  <a:prstClr val="black"/>
                </a:solidFill>
                <a:latin typeface="+mn-ea"/>
              </a:rPr>
              <a:t>말만 하는 대화형</a:t>
            </a:r>
            <a:r>
              <a:rPr lang="en-US" altLang="ko-KR" sz="1200" b="1" i="1" u="sng" ker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i="1" u="sng" kern="0">
                <a:solidFill>
                  <a:prstClr val="black"/>
                </a:solidFill>
                <a:latin typeface="+mn-ea"/>
              </a:rPr>
              <a:t>에이전트</a:t>
            </a:r>
            <a:r>
              <a:rPr lang="en-US" altLang="ko-KR" sz="1200" u="sng" kern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200" u="sng" kern="0">
                <a:solidFill>
                  <a:prstClr val="black"/>
                </a:solidFill>
                <a:latin typeface="+mn-ea"/>
              </a:rPr>
              <a:t>에서 </a:t>
            </a:r>
            <a:r>
              <a:rPr lang="en-US" altLang="ko-KR" sz="1200" u="sng" kern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200" b="1" i="1" u="sng" kern="0">
                <a:solidFill>
                  <a:prstClr val="black"/>
                </a:solidFill>
                <a:latin typeface="+mn-ea"/>
              </a:rPr>
              <a:t>일 해주는 실행형</a:t>
            </a:r>
            <a:r>
              <a:rPr lang="en-US" altLang="ko-KR" sz="1200" b="1" i="1" u="sng" ker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i="1" u="sng" kern="0">
                <a:solidFill>
                  <a:prstClr val="black"/>
                </a:solidFill>
                <a:latin typeface="+mn-ea"/>
              </a:rPr>
              <a:t>에이전트</a:t>
            </a:r>
            <a:r>
              <a:rPr lang="en-US" altLang="ko-KR" sz="1200" u="sng" kern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200" u="sng" kern="0">
                <a:solidFill>
                  <a:prstClr val="black"/>
                </a:solidFill>
                <a:latin typeface="+mn-ea"/>
              </a:rPr>
              <a:t>로 변화</a:t>
            </a:r>
            <a:endParaRPr kumimoji="0" lang="ko-KR" altLang="en-US" sz="1200" i="0" u="sng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02747-FF3D-5CD6-C38F-8D0286439278}"/>
              </a:ext>
            </a:extLst>
          </p:cNvPr>
          <p:cNvSpPr txBox="1"/>
          <p:nvPr/>
        </p:nvSpPr>
        <p:spPr>
          <a:xfrm>
            <a:off x="5476461" y="1626133"/>
            <a:ext cx="3260035" cy="281552"/>
          </a:xfrm>
          <a:prstGeom prst="rect">
            <a:avLst/>
          </a:prstGeom>
          <a:gradFill>
            <a:gsLst>
              <a:gs pos="3000">
                <a:schemeClr val="tx2">
                  <a:alpha val="85000"/>
                  <a:lumMod val="12000"/>
                  <a:lumOff val="88000"/>
                </a:schemeClr>
              </a:gs>
              <a:gs pos="9600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tabLst/>
              <a:defRPr/>
            </a:pPr>
            <a:r>
              <a:rPr kumimoji="0" lang="en-US" altLang="ko-KR" sz="1400" b="1" i="1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uLnTx/>
                <a:uFillTx/>
                <a:latin typeface="+mn-ea"/>
                <a:cs typeface="+mn-cs"/>
              </a:rPr>
              <a:t>“</a:t>
            </a:r>
            <a:r>
              <a:rPr kumimoji="0" lang="ko-KR" altLang="en-US" sz="1400" b="1" i="1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uLnTx/>
                <a:uFillTx/>
                <a:latin typeface="+mn-ea"/>
                <a:cs typeface="+mn-cs"/>
              </a:rPr>
              <a:t>현행 </a:t>
            </a:r>
            <a:r>
              <a:rPr kumimoji="0" lang="en-US" altLang="ko-KR" sz="1400" b="1" i="1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uLnTx/>
                <a:uFillTx/>
                <a:latin typeface="+mn-ea"/>
                <a:cs typeface="+mn-cs"/>
              </a:rPr>
              <a:t>AI Portal </a:t>
            </a:r>
            <a:r>
              <a:rPr lang="ko-KR" altLang="en-US" sz="1400" b="1" i="1" u="sng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전략 유효성 검증 필요</a:t>
            </a:r>
            <a:r>
              <a:rPr lang="en-US" altLang="ko-KR" sz="1400" b="1" i="1" u="sng" kern="0">
                <a:solidFill>
                  <a:prstClr val="black"/>
                </a:solidFill>
                <a:effectLst>
                  <a:glow rad="63500">
                    <a:schemeClr val="bg1"/>
                  </a:glow>
                </a:effectLst>
                <a:latin typeface="+mn-ea"/>
              </a:rPr>
              <a:t>”</a:t>
            </a:r>
            <a:endParaRPr kumimoji="0" lang="ko-KR" altLang="en-US" sz="1400" b="1" i="1" u="sng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glow rad="63500">
                  <a:schemeClr val="bg1"/>
                </a:glow>
              </a:effectLst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Google Shape;74;p18">
            <a:extLst>
              <a:ext uri="{FF2B5EF4-FFF2-40B4-BE49-F238E27FC236}">
                <a16:creationId xmlns:a16="http://schemas.microsoft.com/office/drawing/2014/main" id="{BA4F4352-E107-2322-3349-59015A0D7012}"/>
              </a:ext>
            </a:extLst>
          </p:cNvPr>
          <p:cNvSpPr/>
          <p:nvPr/>
        </p:nvSpPr>
        <p:spPr>
          <a:xfrm>
            <a:off x="-3504643" y="2180096"/>
            <a:ext cx="1606533" cy="216000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9050" cap="flat" cmpd="sng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200" b="1">
                <a:solidFill>
                  <a:schemeClr val="l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Fira Sans Extra Condensed Medium"/>
                <a:sym typeface="Fira Sans Extra Condensed Medium"/>
              </a:rPr>
              <a:t>대화형 에이전트</a:t>
            </a:r>
            <a:endParaRPr sz="1200" b="1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20" name="Google Shape;74;p18">
            <a:extLst>
              <a:ext uri="{FF2B5EF4-FFF2-40B4-BE49-F238E27FC236}">
                <a16:creationId xmlns:a16="http://schemas.microsoft.com/office/drawing/2014/main" id="{91CCEBDC-6533-9020-F4DA-143CDEBC8C68}"/>
              </a:ext>
            </a:extLst>
          </p:cNvPr>
          <p:cNvSpPr/>
          <p:nvPr/>
        </p:nvSpPr>
        <p:spPr>
          <a:xfrm>
            <a:off x="-1835727" y="2180096"/>
            <a:ext cx="1606532" cy="216000"/>
          </a:xfrm>
          <a:custGeom>
            <a:avLst/>
            <a:gdLst/>
            <a:ahLst/>
            <a:cxnLst/>
            <a:rect l="l" t="t" r="r" b="b"/>
            <a:pathLst>
              <a:path w="39875" h="9443" extrusionOk="0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9050" cap="flat" cmpd="sng">
            <a:solidFill>
              <a:schemeClr val="tx2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200" b="1">
                <a:solidFill>
                  <a:schemeClr val="l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sym typeface="Fira Sans Extra Condensed Medium"/>
              </a:rPr>
              <a:t>실행형 에이전트</a:t>
            </a:r>
            <a:endParaRPr sz="1200" b="1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AF6319-36ED-F5BD-3F5B-766210598ADB}"/>
              </a:ext>
            </a:extLst>
          </p:cNvPr>
          <p:cNvSpPr/>
          <p:nvPr/>
        </p:nvSpPr>
        <p:spPr>
          <a:xfrm>
            <a:off x="-4141074" y="2443893"/>
            <a:ext cx="574050" cy="766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bg1"/>
                </a:solidFill>
                <a:latin typeface="+mn-ea"/>
              </a:rPr>
              <a:t>핵심</a:t>
            </a:r>
            <a:br>
              <a:rPr lang="en-US" altLang="ko-KR" sz="1200" b="1">
                <a:solidFill>
                  <a:schemeClr val="bg1"/>
                </a:solidFill>
                <a:latin typeface="+mn-ea"/>
              </a:rPr>
            </a:br>
            <a:r>
              <a:rPr lang="ko-KR" altLang="en-US" sz="1200" b="1">
                <a:solidFill>
                  <a:schemeClr val="bg1"/>
                </a:solidFill>
                <a:latin typeface="+mn-ea"/>
              </a:rPr>
              <a:t>가치</a:t>
            </a:r>
            <a:endParaRPr lang="en-US" sz="12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Google Shape;78;p18">
            <a:extLst>
              <a:ext uri="{FF2B5EF4-FFF2-40B4-BE49-F238E27FC236}">
                <a16:creationId xmlns:a16="http://schemas.microsoft.com/office/drawing/2014/main" id="{C8380C62-214D-91BE-C480-98105CFB9B80}"/>
              </a:ext>
            </a:extLst>
          </p:cNvPr>
          <p:cNvSpPr txBox="1"/>
          <p:nvPr/>
        </p:nvSpPr>
        <p:spPr>
          <a:xfrm flipH="1">
            <a:off x="-3504643" y="2445493"/>
            <a:ext cx="1606533" cy="765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정보전달</a:t>
            </a: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Roboto"/>
                <a:sym typeface="Roboto"/>
              </a:rPr>
              <a:t>(Information)</a:t>
            </a:r>
            <a:endParaRPr lang="en-US" altLang="ko-KR" sz="100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Roboto"/>
              <a:sym typeface="Roboto"/>
            </a:endParaRPr>
          </a:p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사용자의 질문에 대해서 문서를 찾아 답변</a:t>
            </a:r>
            <a:endParaRPr lang="en-US" altLang="ko-KR" sz="1000">
              <a:latin typeface="+mn-ea"/>
              <a:cs typeface="Roboto"/>
              <a:sym typeface="Roboto"/>
            </a:endParaRPr>
          </a:p>
        </p:txBody>
      </p:sp>
      <p:sp>
        <p:nvSpPr>
          <p:cNvPr id="28" name="Google Shape;78;p18">
            <a:extLst>
              <a:ext uri="{FF2B5EF4-FFF2-40B4-BE49-F238E27FC236}">
                <a16:creationId xmlns:a16="http://schemas.microsoft.com/office/drawing/2014/main" id="{3D065281-1449-EC05-AECE-BC558B609CE6}"/>
              </a:ext>
            </a:extLst>
          </p:cNvPr>
          <p:cNvSpPr txBox="1"/>
          <p:nvPr/>
        </p:nvSpPr>
        <p:spPr>
          <a:xfrm flipH="1">
            <a:off x="-1835728" y="2445493"/>
            <a:ext cx="1606533" cy="765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prstDash val="sysDash"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업무 수행</a:t>
            </a: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Roboto"/>
                <a:sym typeface="Roboto"/>
              </a:rPr>
              <a:t>(Action)</a:t>
            </a:r>
          </a:p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사용자를 대신해 도구를 직접 제어</a:t>
            </a:r>
            <a:endParaRPr lang="en-US" altLang="ko-KR" sz="1000">
              <a:latin typeface="+mn-ea"/>
              <a:cs typeface="Roboto"/>
              <a:sym typeface="Roboto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0F41C3B-4F52-B31D-E277-89D89F310F17}"/>
              </a:ext>
            </a:extLst>
          </p:cNvPr>
          <p:cNvSpPr/>
          <p:nvPr/>
        </p:nvSpPr>
        <p:spPr>
          <a:xfrm>
            <a:off x="-4141074" y="3258490"/>
            <a:ext cx="574050" cy="766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bg1"/>
                </a:solidFill>
                <a:latin typeface="+mn-ea"/>
              </a:rPr>
              <a:t>사용자</a:t>
            </a:r>
            <a:endParaRPr lang="en-US" altLang="ko-KR" sz="1200" b="1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bg1"/>
                </a:solidFill>
                <a:latin typeface="+mn-ea"/>
              </a:rPr>
              <a:t>경험</a:t>
            </a:r>
            <a:endParaRPr lang="en-US" sz="12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Google Shape;78;p18">
            <a:extLst>
              <a:ext uri="{FF2B5EF4-FFF2-40B4-BE49-F238E27FC236}">
                <a16:creationId xmlns:a16="http://schemas.microsoft.com/office/drawing/2014/main" id="{7C5ACA2F-01CA-6828-9411-5AC08CFCF16D}"/>
              </a:ext>
            </a:extLst>
          </p:cNvPr>
          <p:cNvSpPr txBox="1"/>
          <p:nvPr/>
        </p:nvSpPr>
        <p:spPr>
          <a:xfrm flipH="1">
            <a:off x="-3504643" y="3260090"/>
            <a:ext cx="1606533" cy="765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보조적</a:t>
            </a: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Roboto"/>
                <a:sym typeface="Roboto"/>
              </a:rPr>
              <a:t>(Passive)</a:t>
            </a:r>
            <a:endParaRPr lang="en-US" altLang="ko-KR" sz="100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Roboto"/>
              <a:sym typeface="Roboto"/>
            </a:endParaRPr>
          </a:p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답변 확인 후</a:t>
            </a:r>
            <a:r>
              <a:rPr lang="en-US" altLang="ko-KR" sz="1000">
                <a:latin typeface="+mn-ea"/>
                <a:cs typeface="Roboto"/>
                <a:sym typeface="Roboto"/>
              </a:rPr>
              <a:t>, </a:t>
            </a:r>
            <a:r>
              <a:rPr lang="ko-KR" altLang="en-US" sz="1000">
                <a:latin typeface="+mn-ea"/>
                <a:cs typeface="Roboto"/>
                <a:sym typeface="Roboto"/>
              </a:rPr>
              <a:t>사용자가 직접 업무 처리</a:t>
            </a:r>
            <a:endParaRPr lang="en-US" altLang="ko-KR" sz="1000">
              <a:latin typeface="+mn-ea"/>
              <a:cs typeface="Roboto"/>
              <a:sym typeface="Roboto"/>
            </a:endParaRPr>
          </a:p>
        </p:txBody>
      </p:sp>
      <p:sp>
        <p:nvSpPr>
          <p:cNvPr id="32" name="Google Shape;78;p18">
            <a:extLst>
              <a:ext uri="{FF2B5EF4-FFF2-40B4-BE49-F238E27FC236}">
                <a16:creationId xmlns:a16="http://schemas.microsoft.com/office/drawing/2014/main" id="{95F9779A-F0AA-C332-EB24-19E5E43D097D}"/>
              </a:ext>
            </a:extLst>
          </p:cNvPr>
          <p:cNvSpPr txBox="1"/>
          <p:nvPr/>
        </p:nvSpPr>
        <p:spPr>
          <a:xfrm flipH="1">
            <a:off x="-1835728" y="3260090"/>
            <a:ext cx="1606533" cy="765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prstDash val="sysDash"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주도적</a:t>
            </a: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Roboto"/>
                <a:sym typeface="Roboto"/>
              </a:rPr>
              <a:t>(Autonomous)</a:t>
            </a:r>
            <a:endParaRPr lang="en-US" altLang="ko-KR" sz="100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Roboto"/>
              <a:sym typeface="Roboto"/>
            </a:endParaRPr>
          </a:p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명령 시</a:t>
            </a:r>
            <a:r>
              <a:rPr lang="en-US" altLang="ko-KR" sz="1000">
                <a:latin typeface="+mn-ea"/>
                <a:cs typeface="Roboto"/>
                <a:sym typeface="Roboto"/>
              </a:rPr>
              <a:t> </a:t>
            </a:r>
            <a:r>
              <a:rPr lang="ko-KR" altLang="en-US" sz="1000">
                <a:latin typeface="+mn-ea"/>
                <a:cs typeface="Roboto"/>
                <a:sym typeface="Roboto"/>
              </a:rPr>
              <a:t>결과물 산출까지 프로세스 단축</a:t>
            </a:r>
            <a:endParaRPr lang="en-US" altLang="ko-KR" sz="1000">
              <a:latin typeface="+mn-ea"/>
              <a:cs typeface="Roboto"/>
              <a:sym typeface="Roboto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0D22DBC-6200-0BDF-8A22-56C3541CAD3A}"/>
              </a:ext>
            </a:extLst>
          </p:cNvPr>
          <p:cNvSpPr/>
          <p:nvPr/>
        </p:nvSpPr>
        <p:spPr>
          <a:xfrm>
            <a:off x="-4141074" y="4074686"/>
            <a:ext cx="574050" cy="9972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bg1"/>
                </a:solidFill>
                <a:latin typeface="+mn-ea"/>
              </a:rPr>
              <a:t>잠재적</a:t>
            </a:r>
            <a:endParaRPr lang="en-US" altLang="ko-KR" sz="1200" b="1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bg1"/>
                </a:solidFill>
                <a:latin typeface="+mn-ea"/>
              </a:rPr>
              <a:t>리스크</a:t>
            </a:r>
            <a:endParaRPr lang="en-US" sz="12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Google Shape;78;p18">
            <a:extLst>
              <a:ext uri="{FF2B5EF4-FFF2-40B4-BE49-F238E27FC236}">
                <a16:creationId xmlns:a16="http://schemas.microsoft.com/office/drawing/2014/main" id="{073065BF-B9B0-BBE0-7AED-8944B7B0B12E}"/>
              </a:ext>
            </a:extLst>
          </p:cNvPr>
          <p:cNvSpPr txBox="1"/>
          <p:nvPr/>
        </p:nvSpPr>
        <p:spPr>
          <a:xfrm flipH="1">
            <a:off x="-3504643" y="4074686"/>
            <a:ext cx="1606533" cy="9960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편의성 측면의 한계</a:t>
            </a:r>
            <a:endParaRPr lang="en-US" altLang="ko-KR" sz="1000">
              <a:latin typeface="+mn-ea"/>
              <a:cs typeface="Roboto"/>
              <a:sym typeface="Roboto"/>
            </a:endParaRPr>
          </a:p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사용자의 직접 조작 단계 남아 있어서</a:t>
            </a:r>
            <a:r>
              <a:rPr lang="en-US" altLang="ko-KR" sz="1000">
                <a:latin typeface="+mn-ea"/>
                <a:cs typeface="Roboto"/>
                <a:sym typeface="Roboto"/>
              </a:rPr>
              <a:t> </a:t>
            </a:r>
            <a:r>
              <a:rPr lang="ko-KR" altLang="en-US" sz="1000">
                <a:latin typeface="+mn-ea"/>
                <a:cs typeface="Roboto"/>
                <a:sym typeface="Roboto"/>
              </a:rPr>
              <a:t>자동화 툴 대비 생산성 격차 발생</a:t>
            </a:r>
            <a:endParaRPr lang="en-US" altLang="ko-KR" sz="1000">
              <a:latin typeface="+mn-ea"/>
              <a:cs typeface="Roboto"/>
              <a:sym typeface="Roboto"/>
            </a:endParaRPr>
          </a:p>
        </p:txBody>
      </p:sp>
      <p:sp>
        <p:nvSpPr>
          <p:cNvPr id="35" name="Google Shape;78;p18">
            <a:extLst>
              <a:ext uri="{FF2B5EF4-FFF2-40B4-BE49-F238E27FC236}">
                <a16:creationId xmlns:a16="http://schemas.microsoft.com/office/drawing/2014/main" id="{5970D761-69B8-CB83-13B3-178A42709F58}"/>
              </a:ext>
            </a:extLst>
          </p:cNvPr>
          <p:cNvSpPr txBox="1"/>
          <p:nvPr/>
        </p:nvSpPr>
        <p:spPr>
          <a:xfrm flipH="1">
            <a:off x="-1835728" y="4074686"/>
            <a:ext cx="1606533" cy="9960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prstDash val="sysDash"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통제 이슈 발생 가능성</a:t>
            </a:r>
            <a:endParaRPr lang="en-US" altLang="ko-KR" sz="1000">
              <a:latin typeface="+mn-ea"/>
              <a:cs typeface="Roboto"/>
              <a:sym typeface="Roboto"/>
            </a:endParaRPr>
          </a:p>
          <a:p>
            <a:pPr marL="108000" lvl="0" indent="-1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>
                <a:latin typeface="+mn-ea"/>
                <a:cs typeface="Roboto"/>
                <a:sym typeface="Roboto"/>
              </a:rPr>
              <a:t>더 편리한 외부 에이전트 사용증가 시</a:t>
            </a:r>
            <a:r>
              <a:rPr lang="en-US" altLang="ko-KR" sz="1000">
                <a:latin typeface="+mn-ea"/>
                <a:cs typeface="Roboto"/>
                <a:sym typeface="Roboto"/>
              </a:rPr>
              <a:t> </a:t>
            </a:r>
            <a:r>
              <a:rPr lang="ko-KR" altLang="en-US" sz="1000">
                <a:latin typeface="+mn-ea"/>
                <a:cs typeface="Roboto"/>
                <a:sym typeface="Roboto"/>
              </a:rPr>
              <a:t>내부 시스템 이탈 우려</a:t>
            </a:r>
            <a:endParaRPr lang="en-US" altLang="ko-KR" sz="1000">
              <a:latin typeface="+mn-ea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1340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CEB703F-15DA-9CC1-0E81-56345EB1E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547" y="3195636"/>
            <a:ext cx="6674906" cy="717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끝</a:t>
            </a:r>
            <a:r>
              <a:rPr lang="en-US" altLang="ko-KR" sz="32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2000" b="1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175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A327C-7487-42F2-9FD8-57C3320BB315}">
  <we:reference id="f5f369e5-aa35-49d7-ad7b-638152ddb008" version="1.0.0.0" store="EXCatalog" storeType="EXCatalog"/>
  <we:alternateReferences>
    <we:reference id="WA200010001" version="1.0.0.0" store="ko-KR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584d70-5713-40a2-9c78-2f55855c2930">
      <Terms xmlns="http://schemas.microsoft.com/office/infopath/2007/PartnerControls"/>
    </lcf76f155ced4ddcb4097134ff3c332f>
    <SharedWithUsers xmlns="7bac07af-680f-4b03-9cbc-50922cab4b60">
      <UserInfo>
        <DisplayName/>
        <AccountId xsi:nil="true"/>
        <AccountType/>
      </UserInfo>
    </SharedWithUsers>
    <TaxCatchAll xmlns="7bac07af-680f-4b03-9cbc-50922cab4b60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87243DDACC68C428D71130598E7BACC" ma:contentTypeVersion="19" ma:contentTypeDescription="새 문서를 만듭니다." ma:contentTypeScope="" ma:versionID="da4a80d670417f6f7c6e1ac81f8cf699">
  <xsd:schema xmlns:xsd="http://www.w3.org/2001/XMLSchema" xmlns:xs="http://www.w3.org/2001/XMLSchema" xmlns:p="http://schemas.microsoft.com/office/2006/metadata/properties" xmlns:ns2="6b584d70-5713-40a2-9c78-2f55855c2930" xmlns:ns3="7bac07af-680f-4b03-9cbc-50922cab4b60" targetNamespace="http://schemas.microsoft.com/office/2006/metadata/properties" ma:root="true" ma:fieldsID="19efe255a5b1a2be24958f65d0d0dbe2" ns2:_="" ns3:_="">
    <xsd:import namespace="6b584d70-5713-40a2-9c78-2f55855c2930"/>
    <xsd:import namespace="7bac07af-680f-4b03-9cbc-50922cab4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584d70-5713-40a2-9c78-2f55855c2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c0a77422-370f-456e-82d2-10c6367ec7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ac07af-680f-4b03-9cbc-50922cab4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8bfb2de-7bd6-4fb8-9a27-b4da2cb4dbee}" ma:internalName="TaxCatchAll" ma:showField="CatchAllData" ma:web="7bac07af-680f-4b03-9cbc-50922cab4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C9D5C4-23F3-47B5-A482-072E6BA35295}">
  <ds:schemaRefs>
    <ds:schemaRef ds:uri="http://purl.org/dc/terms/"/>
    <ds:schemaRef ds:uri="http://schemas.microsoft.com/office/2006/documentManagement/types"/>
    <ds:schemaRef ds:uri="http://purl.org/dc/dcmitype/"/>
    <ds:schemaRef ds:uri="7bac07af-680f-4b03-9cbc-50922cab4b60"/>
    <ds:schemaRef ds:uri="6b584d70-5713-40a2-9c78-2f55855c2930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46C438E-4FDF-4A40-A68F-A54588F12893}">
  <ds:schemaRefs>
    <ds:schemaRef ds:uri="6b584d70-5713-40a2-9c78-2f55855c2930"/>
    <ds:schemaRef ds:uri="7bac07af-680f-4b03-9cbc-50922cab4b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EB80DF-425F-4036-8F32-0BDC8B24A60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1445</Words>
  <Application>Microsoft Office PowerPoint</Application>
  <PresentationFormat>화면 슬라이드 쇼(4:3)</PresentationFormat>
  <Paragraphs>145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isu;hemannkim@isu.co.kr</dc:creator>
  <cp:lastModifiedBy>김혜만(Kim Haemann)</cp:lastModifiedBy>
  <cp:revision>1</cp:revision>
  <cp:lastPrinted>2026-02-22T23:09:52Z</cp:lastPrinted>
  <dcterms:created xsi:type="dcterms:W3CDTF">2012-07-11T01:17:56Z</dcterms:created>
  <dcterms:modified xsi:type="dcterms:W3CDTF">2026-03-08T23:46:30Z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0x010100087243DDACC68C428D71130598E7BACC</vt:lpwstr>
  </property>
  <property fmtid="{D5CDD505-2E9C-101B-9397-08002B2CF9AE}" pid="3" name="MSIP_Label_90ec8bca-5b95-45f6-84e3-78bd67335579_Enabled">
    <vt:lpwstr>true</vt:lpwstr>
  </property>
  <property fmtid="{D5CDD505-2E9C-101B-9397-08002B2CF9AE}" pid="4" name="MSIP_Label_90ec8bca-5b95-45f6-84e3-78bd67335579_SetDate">
    <vt:lpwstr>2020-11-12T02:25:20Z</vt:lpwstr>
  </property>
  <property fmtid="{D5CDD505-2E9C-101B-9397-08002B2CF9AE}" pid="5" name="MSIP_Label_90ec8bca-5b95-45f6-84e3-78bd67335579_Method">
    <vt:lpwstr>Privileged</vt:lpwstr>
  </property>
  <property fmtid="{D5CDD505-2E9C-101B-9397-08002B2CF9AE}" pid="6" name="MSIP_Label_90ec8bca-5b95-45f6-84e3-78bd67335579_Name">
    <vt:lpwstr>Public</vt:lpwstr>
  </property>
  <property fmtid="{D5CDD505-2E9C-101B-9397-08002B2CF9AE}" pid="7" name="MSIP_Label_90ec8bca-5b95-45f6-84e3-78bd67335579_SiteId">
    <vt:lpwstr>3d1faaa9-563d-4f67-a713-4d7024664da8</vt:lpwstr>
  </property>
  <property fmtid="{D5CDD505-2E9C-101B-9397-08002B2CF9AE}" pid="8" name="MSIP_Label_90ec8bca-5b95-45f6-84e3-78bd67335579_ActionId">
    <vt:lpwstr>517ac108-6c20-406e-bb55-59e26810a043</vt:lpwstr>
  </property>
  <property fmtid="{D5CDD505-2E9C-101B-9397-08002B2CF9AE}" pid="9" name="MSIP_Label_90ec8bca-5b95-45f6-84e3-78bd67335579_ContentBits">
    <vt:lpwstr>1</vt:lpwstr>
  </property>
  <property fmtid="{D5CDD505-2E9C-101B-9397-08002B2CF9AE}" pid="10" name="MediaServiceImageTags">
    <vt:lpwstr/>
  </property>
  <property fmtid="{D5CDD505-2E9C-101B-9397-08002B2CF9AE}" pid="11" name="Order">
    <vt:r8>4273100</vt:r8>
  </property>
  <property fmtid="{D5CDD505-2E9C-101B-9397-08002B2CF9AE}" pid="12" name="ClassificationContentMarkingHeaderLocations">
    <vt:lpwstr>디자인 사용자 지정:2\디자인 사용자 지정:3\디자인 사용자 지정:3\1_디자인 사용자 지정:3\13_디자인 사용자 지정:3\15_디자인 사용자 지정:3\16_디자인 사용자 지정:3\1_Office 테마:12\17_디자인 사용자 지정:3\18_디자인 사용자 지정:3\3_디자인 사용자 지정:3\2_Office 테마:3\디자인 사용자 지정:3</vt:lpwstr>
  </property>
  <property fmtid="{D5CDD505-2E9C-101B-9397-08002B2CF9AE}" pid="13" name="ClassificationContentMarkingHeaderText">
    <vt:lpwstr>일반등급</vt:lpwstr>
  </property>
  <property fmtid="{D5CDD505-2E9C-101B-9397-08002B2CF9AE}" pid="14" name="xd_ProgID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xd_Signature">
    <vt:bool>false</vt:bool>
  </property>
</Properties>
</file>